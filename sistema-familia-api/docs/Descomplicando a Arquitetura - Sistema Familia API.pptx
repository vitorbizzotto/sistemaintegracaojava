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640080" y="105156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3200400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284C7"/>
                </a:solidFill>
                <a:latin typeface="Inter"/>
              </a:rPr>
              <a:t>AULA DE ARQUITETURA  |  ALTZEN 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0584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>
                <a:solidFill>
                  <a:srgbClr val="0F172A"/>
                </a:solidFill>
                <a:latin typeface="Outfit"/>
              </a:rPr>
              <a:t>Descomplicando </a:t>
            </a:r>
            <a:r>
              <a:rPr sz="5600" b="1">
                <a:solidFill>
                  <a:srgbClr val="0EA5E9"/>
                </a:solidFill>
                <a:latin typeface="Outfit"/>
              </a:rPr>
              <a:t>a Arquitetura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0F172A"/>
                </a:solidFill>
                <a:latin typeface="Outfit"/>
              </a:rPr>
              <a:t>do Sistema Família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64748B"/>
                </a:solidFill>
                <a:latin typeface="Inter"/>
              </a:rPr>
              <a:t>Do menu de terminal ao Spring Boot: entendendo camadas, MVC, DTOs e injeção de dependência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5120640"/>
            <a:ext cx="347472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52578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34155"/>
                </a:solidFill>
                <a:latin typeface="Inter"/>
              </a:rPr>
              <a:t>Aula preparada para o aluno na Mentoria AltzenPro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Baseada no projeto sistema-família-api  -  Spring Boot 3 + Java 17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4BE980D6-17F1-16B5-569A-5D021C07D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460" y="20574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01168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284C7"/>
                </a:solidFill>
                <a:latin typeface="Inter"/>
              </a:rPr>
              <a:t>PARTE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0F172A"/>
                </a:solidFill>
                <a:latin typeface="Outfit"/>
              </a:rPr>
              <a:t>O Ponto de Partida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4748B"/>
                </a:solidFill>
                <a:latin typeface="Inter"/>
              </a:rPr>
              <a:t>Antes de mergulhar no código, entendendo de onde saímos e para onde vamos.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4617720"/>
            <a:ext cx="2743200" cy="0"/>
          </a:xfrm>
          <a:prstGeom prst="line">
            <a:avLst/>
          </a:prstGeom>
          <a:ln w="317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PONTO DE PARTIDA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Outfit"/>
              </a:rPr>
              <a:t>De onde viemos: do console para a API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Inter"/>
              </a:rPr>
              <a:t>O projeto original rodava no terminal, com um menu e um loop while. Vamos ver o que muda: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23160"/>
            <a:ext cx="5486400" cy="37947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26517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64592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334155"/>
                </a:solidFill>
                <a:latin typeface="Inter"/>
              </a:rPr>
              <a:t>PROJETO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E293B"/>
                </a:solidFill>
                <a:latin typeface="Outfit"/>
              </a:rPr>
              <a:t>sistema-família (Java puro)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49377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64748B"/>
                </a:solidFill>
                <a:latin typeface="Inter"/>
              </a:rPr>
              <a:t>•  </a:t>
            </a:r>
            <a:r>
              <a:rPr sz="1200" b="1">
                <a:solidFill>
                  <a:srgbClr val="334155"/>
                </a:solidFill>
                <a:latin typeface="Inter"/>
              </a:rPr>
              <a:t>Main.java </a:t>
            </a:r>
            <a:r>
              <a:rPr sz="1200">
                <a:solidFill>
                  <a:srgbClr val="475569"/>
                </a:solidFill>
                <a:latin typeface="Inter"/>
              </a:rPr>
              <a:t>com while(continuar) e if/else por opção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64748B"/>
                </a:solidFill>
                <a:latin typeface="Inter"/>
              </a:rPr>
              <a:t>•  </a:t>
            </a:r>
            <a:r>
              <a:rPr sz="1200" b="1">
                <a:solidFill>
                  <a:srgbClr val="334155"/>
                </a:solidFill>
                <a:latin typeface="Inter"/>
              </a:rPr>
              <a:t>ArrayList </a:t>
            </a:r>
            <a:r>
              <a:rPr sz="1200">
                <a:solidFill>
                  <a:srgbClr val="475569"/>
                </a:solidFill>
                <a:latin typeface="Inter"/>
              </a:rPr>
              <a:t>declarados dentro do main() (dados locais)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64748B"/>
                </a:solidFill>
                <a:latin typeface="Inter"/>
              </a:rPr>
              <a:t>•  </a:t>
            </a:r>
            <a:r>
              <a:rPr sz="1200" b="1">
                <a:solidFill>
                  <a:srgbClr val="334155"/>
                </a:solidFill>
                <a:latin typeface="Inter"/>
              </a:rPr>
              <a:t>GestorPatrimonio </a:t>
            </a:r>
            <a:r>
              <a:rPr sz="1200">
                <a:solidFill>
                  <a:srgbClr val="475569"/>
                </a:solidFill>
                <a:latin typeface="Inter"/>
              </a:rPr>
              <a:t>com métodos static (sem instância)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64748B"/>
                </a:solidFill>
                <a:latin typeface="Inter"/>
              </a:rPr>
              <a:t>•  </a:t>
            </a:r>
            <a:r>
              <a:rPr sz="1200" b="1">
                <a:solidFill>
                  <a:srgbClr val="334155"/>
                </a:solidFill>
                <a:latin typeface="Inter"/>
              </a:rPr>
              <a:t>Scanner + System.out </a:t>
            </a:r>
            <a:r>
              <a:rPr sz="1200">
                <a:solidFill>
                  <a:srgbClr val="475569"/>
                </a:solidFill>
                <a:latin typeface="Inter"/>
              </a:rPr>
              <a:t>para conversar com o usuário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64748B"/>
                </a:solidFill>
                <a:latin typeface="Inter"/>
              </a:rPr>
              <a:t>•  </a:t>
            </a:r>
            <a:r>
              <a:rPr sz="1200" b="1">
                <a:solidFill>
                  <a:srgbClr val="334155"/>
                </a:solidFill>
                <a:latin typeface="Inter"/>
              </a:rPr>
              <a:t>if (nome.isBlank()) ... </a:t>
            </a:r>
            <a:r>
              <a:rPr sz="1200">
                <a:solidFill>
                  <a:srgbClr val="475569"/>
                </a:solidFill>
                <a:latin typeface="Inter"/>
              </a:rPr>
              <a:t>validações espalhadas no código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423160"/>
            <a:ext cx="5486400" cy="379476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46520" y="26517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651760"/>
            <a:ext cx="1463040" cy="3657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PROJETO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1089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284C7"/>
                </a:solidFill>
                <a:latin typeface="Outfit"/>
              </a:rPr>
              <a:t>sistema-família-api (Spring Boot)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57600"/>
            <a:ext cx="49377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•  </a:t>
            </a:r>
            <a:r>
              <a:rPr sz="1200" b="1">
                <a:solidFill>
                  <a:srgbClr val="334155"/>
                </a:solidFill>
                <a:latin typeface="Inter"/>
              </a:rPr>
              <a:t>Controllers </a:t>
            </a:r>
            <a:r>
              <a:rPr sz="1200">
                <a:solidFill>
                  <a:srgbClr val="475569"/>
                </a:solidFill>
                <a:latin typeface="Inter"/>
              </a:rPr>
              <a:t>REST: um endpoint para cada ação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•  </a:t>
            </a:r>
            <a:r>
              <a:rPr sz="1200" b="1">
                <a:solidFill>
                  <a:srgbClr val="334155"/>
                </a:solidFill>
                <a:latin typeface="Inter"/>
              </a:rPr>
              <a:t>Repositories </a:t>
            </a:r>
            <a:r>
              <a:rPr sz="1200">
                <a:solidFill>
                  <a:srgbClr val="475569"/>
                </a:solidFill>
                <a:latin typeface="Inter"/>
              </a:rPr>
              <a:t>singleton com lista em memória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•  </a:t>
            </a:r>
            <a:r>
              <a:rPr sz="1200" b="1">
                <a:solidFill>
                  <a:srgbClr val="334155"/>
                </a:solidFill>
                <a:latin typeface="Inter"/>
              </a:rPr>
              <a:t>Services </a:t>
            </a:r>
            <a:r>
              <a:rPr sz="1200">
                <a:solidFill>
                  <a:srgbClr val="475569"/>
                </a:solidFill>
                <a:latin typeface="Inter"/>
              </a:rPr>
              <a:t>com a mesma lógica de negócio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•  </a:t>
            </a:r>
            <a:r>
              <a:rPr sz="1200" b="1">
                <a:solidFill>
                  <a:srgbClr val="334155"/>
                </a:solidFill>
                <a:latin typeface="Inter"/>
              </a:rPr>
              <a:t>HTTP + JSON </a:t>
            </a:r>
            <a:r>
              <a:rPr sz="1200">
                <a:solidFill>
                  <a:srgbClr val="475569"/>
                </a:solidFill>
                <a:latin typeface="Inter"/>
              </a:rPr>
              <a:t>no lugar de Scanner e System.out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•  </a:t>
            </a:r>
            <a:r>
              <a:rPr sz="1200" b="1">
                <a:solidFill>
                  <a:srgbClr val="334155"/>
                </a:solidFill>
                <a:latin typeface="Inter"/>
              </a:rPr>
              <a:t>@NotBlank / @Positive </a:t>
            </a:r>
            <a:r>
              <a:rPr sz="1200">
                <a:solidFill>
                  <a:srgbClr val="475569"/>
                </a:solidFill>
                <a:latin typeface="Inter"/>
              </a:rPr>
              <a:t>validação declarativa via Jakarta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Descomplicando a Arquitetura - Sistema Família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Outfit"/>
              </a:rPr>
              <a:t>O que é MVC (e por que ele importa)?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Inter"/>
              </a:rPr>
              <a:t>MVC = Model-View-Controller. É um padrão que divide responsabilidades para o código não virar bagunça.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569464"/>
            <a:ext cx="3545738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354573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73152" cy="31089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313425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F46E5"/>
                </a:solidFill>
                <a:latin typeface="Outfit"/>
              </a:rPr>
              <a:t>M -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81528"/>
            <a:ext cx="3134258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Representa os DADOS e as regras básicas do domínio.</a:t>
            </a:r>
          </a:p>
          <a:p>
            <a:pPr algn="l">
              <a:lnSpc>
                <a:spcPct val="128000"/>
              </a:lnSpc>
            </a:pPr>
            <a:endParaRPr sz="1200" b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Aqui: Pessoa, Animal, Casa, Carro.</a:t>
            </a:r>
          </a:p>
          <a:p>
            <a:pPr algn="l">
              <a:lnSpc>
                <a:spcPct val="128000"/>
              </a:lnSpc>
            </a:pPr>
            <a:endParaRPr sz="1200" b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Não sabe nada sobre HTTP, banco ou tela.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2569464"/>
            <a:ext cx="3545738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22978" y="2514600"/>
            <a:ext cx="354573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22978" y="2514600"/>
            <a:ext cx="73152" cy="3108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7298" y="2697480"/>
            <a:ext cx="313425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7C3AED"/>
                </a:solidFill>
                <a:latin typeface="Outfit"/>
              </a:rPr>
              <a:t>V -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081528"/>
            <a:ext cx="3134258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É o que o usuário vê.</a:t>
            </a:r>
          </a:p>
          <a:p>
            <a:pPr algn="l">
              <a:lnSpc>
                <a:spcPct val="128000"/>
              </a:lnSpc>
            </a:pPr>
            <a:endParaRPr sz="1200" b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Numa API REST a View é o próprio JSON de resposta (Response DTOs).</a:t>
            </a:r>
          </a:p>
          <a:p>
            <a:pPr algn="l">
              <a:lnSpc>
                <a:spcPct val="128000"/>
              </a:lnSpc>
            </a:pPr>
            <a:endParaRPr sz="1200" b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Em uma app web seria HTML/CSS/JS.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3037" y="2569464"/>
            <a:ext cx="3545738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97317" y="2514600"/>
            <a:ext cx="354573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7317" y="2514600"/>
            <a:ext cx="73152" cy="31089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71636" y="2697480"/>
            <a:ext cx="313425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EA5E9"/>
                </a:solidFill>
                <a:latin typeface="Outfit"/>
              </a:rPr>
              <a:t>C - Controller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1636" y="3081528"/>
            <a:ext cx="3134258" cy="2404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Recebe o pedido, coordena o que fazer e devolve a resposta.</a:t>
            </a:r>
          </a:p>
          <a:p>
            <a:pPr algn="l">
              <a:lnSpc>
                <a:spcPct val="128000"/>
              </a:lnSpc>
            </a:pPr>
            <a:endParaRPr sz="1200" b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Não contém regras de negócio: ele DELEGA para o Service.</a:t>
            </a:r>
          </a:p>
          <a:p>
            <a:pPr algn="l">
              <a:lnSpc>
                <a:spcPct val="128000"/>
              </a:lnSpc>
            </a:pPr>
            <a:endParaRPr sz="1200" b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É a porta de entrada da API.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Spring adiciona duas camadas extras (Service e Repository) que deixam o código ainda mais organizado.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Descomplicando a Arquitetura - Sistema Família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04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Outfit"/>
              </a:rPr>
              <a:t>Como as camadas conversam entre si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Inter"/>
              </a:rPr>
              <a:t>Cada requisição HTTP atravessa uma pilha de camadas. Cada uma tem UMA responsabilidade.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6628" y="288036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8067" y="301752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334155"/>
                </a:solidFill>
                <a:latin typeface="Outfit"/>
              </a:rPr>
              <a:t>Cliente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8067" y="338328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Inter"/>
              </a:rPr>
              <a:t>Browser, Postman, app...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9748" y="288036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587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1187" y="301752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0EA5E9"/>
                </a:solidFill>
                <a:latin typeface="Outfit"/>
              </a:rPr>
              <a:t>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1187" y="338328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Inter"/>
              </a:rPr>
              <a:t>@RestController</a:t>
            </a:r>
          </a:p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Inter"/>
              </a:rPr>
              <a:t>Recebe HTTP / 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12868" y="288036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04307" y="301752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4F46E5"/>
                </a:solidFill>
                <a:latin typeface="Outfit"/>
              </a:rPr>
              <a:t>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4307" y="338328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Inter"/>
              </a:rPr>
              <a:t>@Service</a:t>
            </a:r>
          </a:p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Inter"/>
              </a:rPr>
              <a:t>Regras de negócio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15988" y="288036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07427" y="301752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7C3AED"/>
                </a:solidFill>
                <a:latin typeface="Outfit"/>
              </a:rPr>
              <a:t>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7427" y="338328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Inter"/>
              </a:rPr>
              <a:t>@Repository</a:t>
            </a:r>
          </a:p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Inter"/>
              </a:rPr>
              <a:t>Acesso aos dados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19108" y="2880360"/>
            <a:ext cx="1965960" cy="109728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0547" y="301752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334155"/>
                </a:solidFill>
                <a:latin typeface="Outfit"/>
              </a:rPr>
              <a:t>Modelo em memória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0547" y="3383280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Inter"/>
              </a:rPr>
              <a:t>List&lt;Pessoa&gt; singleton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54300" y="3429000"/>
            <a:ext cx="173736" cy="0"/>
          </a:xfrm>
          <a:prstGeom prst="line">
            <a:avLst/>
          </a:prstGeom>
          <a:ln w="22860">
            <a:solidFill>
              <a:srgbClr val="94A3B8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57420" y="3429000"/>
            <a:ext cx="173736" cy="0"/>
          </a:xfrm>
          <a:prstGeom prst="line">
            <a:avLst/>
          </a:prstGeom>
          <a:ln w="22860">
            <a:solidFill>
              <a:srgbClr val="94A3B8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60540" y="3429000"/>
            <a:ext cx="173736" cy="0"/>
          </a:xfrm>
          <a:prstGeom prst="line">
            <a:avLst/>
          </a:prstGeom>
          <a:ln w="22860">
            <a:solidFill>
              <a:srgbClr val="94A3B8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163660" y="3429000"/>
            <a:ext cx="173736" cy="0"/>
          </a:xfrm>
          <a:prstGeom prst="line">
            <a:avLst/>
          </a:prstGeom>
          <a:ln w="22860">
            <a:solidFill>
              <a:srgbClr val="94A3B8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44348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Inter"/>
              </a:rPr>
              <a:t>E a volta? A resposta faz o caminho inverso, convertida em DTO → JSON.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129784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8640" y="5074920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5074920"/>
            <a:ext cx="73152" cy="1234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257800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59669"/>
                </a:solidFill>
                <a:latin typeface="Outfit"/>
              </a:rPr>
              <a:t>DTO (Data Transfer Object)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41848"/>
            <a:ext cx="49834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75569"/>
                </a:solidFill>
                <a:latin typeface="Inter"/>
              </a:rPr>
              <a:t>Objeto que ENTRA (Request) ou SAI (Response) da API. Evita expor o Model interno e garante um contrato claro no JSON.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5129784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263640" y="5074920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63640" y="5074920"/>
            <a:ext cx="73152" cy="1234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5257800"/>
            <a:ext cx="4983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C2626"/>
                </a:solidFill>
                <a:latin typeface="Outfit"/>
              </a:rPr>
              <a:t>Exception + Handler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641848"/>
            <a:ext cx="498348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475569"/>
                </a:solidFill>
                <a:latin typeface="Inter"/>
              </a:rPr>
              <a:t>Erros viram exceções (BusinessException, NotFoundException). O GlobalExceptionHandler traduz cada uma em um JSON com status HTTP correto.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Descomplicando a Arquitetura - Sistema Família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05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01168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284C7"/>
                </a:solidFill>
                <a:latin typeface="Inter"/>
              </a:rPr>
              <a:t>PARTE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0F172A"/>
                </a:solidFill>
                <a:latin typeface="Outfit"/>
              </a:rPr>
              <a:t>As Camadas na Prática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4748B"/>
                </a:solidFill>
                <a:latin typeface="Inter"/>
              </a:rPr>
              <a:t>Vamos abrir cada uma: Model, Repository, Service, Controller, DTO e Exception.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4617720"/>
            <a:ext cx="2743200" cy="0"/>
          </a:xfrm>
          <a:prstGeom prst="line">
            <a:avLst/>
          </a:prstGeom>
          <a:ln w="317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CAMADA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Outfit"/>
              </a:rPr>
              <a:t>Model - as classes que representam o domínio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920240"/>
            <a:ext cx="53949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O que é? </a:t>
            </a:r>
            <a:r>
              <a:rPr sz="1300">
                <a:solidFill>
                  <a:srgbClr val="475569"/>
                </a:solidFill>
                <a:latin typeface="Inter"/>
              </a:rPr>
              <a:t>classes que representam CONCEITOS do mundo real (Pessoa, Casa, Carro).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São POJOs: </a:t>
            </a:r>
            <a:r>
              <a:rPr sz="1300">
                <a:solidFill>
                  <a:srgbClr val="475569"/>
                </a:solidFill>
                <a:latin typeface="Inter"/>
              </a:rPr>
              <a:t>somente atributos + getters/setters + construtor. Não usam Spring.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Encapsulamento: </a:t>
            </a:r>
            <a:r>
              <a:rPr sz="1300">
                <a:solidFill>
                  <a:srgbClr val="475569"/>
                </a:solidFill>
                <a:latin typeface="Inter"/>
              </a:rPr>
              <a:t>atributos private, acesso via métodos. Isso protege os dados.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Id: </a:t>
            </a:r>
            <a:r>
              <a:rPr sz="1300">
                <a:solidFill>
                  <a:srgbClr val="475569"/>
                </a:solidFill>
                <a:latin typeface="Inter"/>
              </a:rPr>
              <a:t>cada entidade ganhou um campo id para poder ser identificada nas rotas.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Não conhece: </a:t>
            </a:r>
            <a:r>
              <a:rPr sz="1300">
                <a:solidFill>
                  <a:srgbClr val="475569"/>
                </a:solidFill>
                <a:latin typeface="Inter"/>
              </a:rPr>
              <a:t>HTTP, JSON, banco de dados, tela. É puro domínio.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920240"/>
            <a:ext cx="5532120" cy="4114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0" y="208483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601968" y="208483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03136" y="2084832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6190488" y="2331720"/>
            <a:ext cx="5495544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0" y="2423160"/>
            <a:ext cx="50749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8BDF8"/>
                </a:solidFill>
                <a:latin typeface="Consolas"/>
              </a:rPr>
              <a:t>public class </a:t>
            </a:r>
            <a:r>
              <a:rPr sz="1100" b="1">
                <a:solidFill>
                  <a:srgbClr val="FFFFFF"/>
                </a:solidFill>
                <a:latin typeface="Consolas"/>
              </a:rPr>
              <a:t>Pessoa</a:t>
            </a:r>
            <a:r>
              <a:rPr sz="1100" b="0">
                <a:solidFill>
                  <a:srgbClr val="F1F5F9"/>
                </a:solidFill>
                <a:latin typeface="Consolas"/>
              </a:rPr>
              <a:t> {</a:t>
            </a:r>
          </a:p>
          <a:p>
            <a:pPr algn="l">
              <a:lnSpc>
                <a:spcPct val="125000"/>
              </a:lnSpc>
            </a:pPr>
            <a:endParaRPr sz="1100" b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8BDF8"/>
                </a:solidFill>
                <a:latin typeface="Consolas"/>
              </a:rPr>
              <a:t>    private Long </a:t>
            </a:r>
            <a:r>
              <a:rPr sz="1100" b="0">
                <a:solidFill>
                  <a:srgbClr val="F1F5F9"/>
                </a:solidFill>
                <a:latin typeface="Consolas"/>
              </a:rPr>
              <a:t>id;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8BDF8"/>
                </a:solidFill>
                <a:latin typeface="Consolas"/>
              </a:rPr>
              <a:t>    private String </a:t>
            </a:r>
            <a:r>
              <a:rPr sz="1100" b="0">
                <a:solidFill>
                  <a:srgbClr val="F1F5F9"/>
                </a:solidFill>
                <a:latin typeface="Consolas"/>
              </a:rPr>
              <a:t>nome;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8BDF8"/>
                </a:solidFill>
                <a:latin typeface="Consolas"/>
              </a:rPr>
              <a:t>    private int </a:t>
            </a:r>
            <a:r>
              <a:rPr sz="1100" b="0">
                <a:solidFill>
                  <a:srgbClr val="F1F5F9"/>
                </a:solidFill>
                <a:latin typeface="Consolas"/>
              </a:rPr>
              <a:t>idade;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8BDF8"/>
                </a:solidFill>
                <a:latin typeface="Consolas"/>
              </a:rPr>
              <a:t>    private String </a:t>
            </a:r>
            <a:r>
              <a:rPr sz="1100" b="0">
                <a:solidFill>
                  <a:srgbClr val="F1F5F9"/>
                </a:solidFill>
                <a:latin typeface="Consolas"/>
              </a:rPr>
              <a:t>parentesco;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8BDF8"/>
                </a:solidFill>
                <a:latin typeface="Consolas"/>
              </a:rPr>
              <a:t>    private double </a:t>
            </a:r>
            <a:r>
              <a:rPr sz="1100" b="0">
                <a:solidFill>
                  <a:srgbClr val="F1F5F9"/>
                </a:solidFill>
                <a:latin typeface="Consolas"/>
              </a:rPr>
              <a:t>carteira;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8BDF8"/>
                </a:solidFill>
                <a:latin typeface="Consolas"/>
              </a:rPr>
              <a:t>    private double </a:t>
            </a:r>
            <a:r>
              <a:rPr sz="1100" b="0">
                <a:solidFill>
                  <a:srgbClr val="F1F5F9"/>
                </a:solidFill>
                <a:latin typeface="Consolas"/>
              </a:rPr>
              <a:t>dívida;</a:t>
            </a:r>
          </a:p>
          <a:p>
            <a:pPr algn="l">
              <a:lnSpc>
                <a:spcPct val="125000"/>
              </a:lnSpc>
            </a:pPr>
            <a:endParaRPr sz="1100" b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8BDF8"/>
                </a:solidFill>
                <a:latin typeface="Consolas"/>
              </a:rPr>
              <a:t>    public </a:t>
            </a:r>
            <a:r>
              <a:rPr sz="1100" b="1">
                <a:solidFill>
                  <a:srgbClr val="FFFFFF"/>
                </a:solidFill>
                <a:latin typeface="Consolas"/>
              </a:rPr>
              <a:t>Pessoa</a:t>
            </a:r>
            <a:r>
              <a:rPr sz="1100" b="0">
                <a:solidFill>
                  <a:srgbClr val="F1F5F9"/>
                </a:solidFill>
                <a:latin typeface="Consolas"/>
              </a:rPr>
              <a:t>(String nome, int idade, ...) { ... }</a:t>
            </a:r>
          </a:p>
          <a:p>
            <a:pPr algn="l">
              <a:lnSpc>
                <a:spcPct val="125000"/>
              </a:lnSpc>
            </a:pPr>
            <a:endParaRPr sz="1100" b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Consolas"/>
              </a:rPr>
              <a:t>    // getters e setters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Descomplicando a Arquitetura - Sistema Família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07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CAMADA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Outfit"/>
              </a:rPr>
              <a:t>Repository - onde os dados ficam guardados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920240"/>
            <a:ext cx="53949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Anotação: </a:t>
            </a:r>
            <a:r>
              <a:rPr sz="1300">
                <a:solidFill>
                  <a:srgbClr val="475569"/>
                </a:solidFill>
                <a:latin typeface="Inter"/>
              </a:rPr>
              <a:t>@Repository (o Spring identifica como componente injetável).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Papel: </a:t>
            </a:r>
            <a:r>
              <a:rPr sz="1300">
                <a:solidFill>
                  <a:srgbClr val="475569"/>
                </a:solidFill>
                <a:latin typeface="Inter"/>
              </a:rPr>
              <a:t>isolar a forma de armazenar dados do resto do sistema.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Aqui é simples: </a:t>
            </a:r>
            <a:r>
              <a:rPr sz="1300">
                <a:solidFill>
                  <a:srgbClr val="475569"/>
                </a:solidFill>
                <a:latin typeface="Inter"/>
              </a:rPr>
              <a:t>uma List em memória + gerador de id (AtomicLong).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Singleton: </a:t>
            </a:r>
            <a:r>
              <a:rPr sz="1300">
                <a:solidFill>
                  <a:srgbClr val="475569"/>
                </a:solidFill>
                <a:latin typeface="Inter"/>
              </a:rPr>
              <a:t>o Spring cria UMA instância só, compartilhada por toda a aplicação.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Amanhã... </a:t>
            </a:r>
            <a:r>
              <a:rPr sz="1300">
                <a:solidFill>
                  <a:srgbClr val="475569"/>
                </a:solidFill>
                <a:latin typeface="Inter"/>
              </a:rPr>
              <a:t>trocamos por Spring Data JPA + banco e o Service nem percebe.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920240"/>
            <a:ext cx="5532120" cy="4114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0" y="208483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601968" y="208483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03136" y="2084832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6190488" y="2331720"/>
            <a:ext cx="5495544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0" y="2423160"/>
            <a:ext cx="50749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D1FAE5"/>
                </a:solidFill>
                <a:latin typeface="Consolas"/>
              </a:rPr>
              <a:t>@Repository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8BDF8"/>
                </a:solidFill>
                <a:latin typeface="Consolas"/>
              </a:rPr>
              <a:t>public class </a:t>
            </a:r>
            <a:r>
              <a:rPr sz="1100" b="1">
                <a:solidFill>
                  <a:srgbClr val="FFFFFF"/>
                </a:solidFill>
                <a:latin typeface="Consolas"/>
              </a:rPr>
              <a:t>PessoaRepository</a:t>
            </a:r>
            <a:r>
              <a:rPr sz="1100" b="0">
                <a:solidFill>
                  <a:srgbClr val="F1F5F9"/>
                </a:solidFill>
                <a:latin typeface="Consolas"/>
              </a:rPr>
              <a:t> {</a:t>
            </a:r>
          </a:p>
          <a:p>
            <a:pPr algn="l">
              <a:lnSpc>
                <a:spcPct val="125000"/>
              </a:lnSpc>
            </a:pPr>
            <a:endParaRPr sz="1100" b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F5F9"/>
                </a:solidFill>
                <a:latin typeface="Consolas"/>
              </a:rPr>
              <a:t>    private final List&lt;Pessoa&gt; </a:t>
            </a:r>
            <a:r>
              <a:rPr sz="1100" b="0">
                <a:solidFill>
                  <a:srgbClr val="FFFFFF"/>
                </a:solidFill>
                <a:latin typeface="Consolas"/>
              </a:rPr>
              <a:t>pessoas </a:t>
            </a:r>
            <a:r>
              <a:rPr sz="1100" b="0">
                <a:solidFill>
                  <a:srgbClr val="F1F5F9"/>
                </a:solidFill>
                <a:latin typeface="Consolas"/>
              </a:rPr>
              <a:t>= </a:t>
            </a:r>
            <a:r>
              <a:rPr sz="1100" b="0">
                <a:solidFill>
                  <a:srgbClr val="38BDF8"/>
                </a:solidFill>
                <a:latin typeface="Consolas"/>
              </a:rPr>
              <a:t>new </a:t>
            </a:r>
            <a:r>
              <a:rPr sz="1100" b="0">
                <a:solidFill>
                  <a:srgbClr val="F1F5F9"/>
                </a:solidFill>
                <a:latin typeface="Consolas"/>
              </a:rPr>
              <a:t>ArrayList&lt;&gt;();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F5F9"/>
                </a:solidFill>
                <a:latin typeface="Consolas"/>
              </a:rPr>
              <a:t>    private final AtomicLong </a:t>
            </a:r>
            <a:r>
              <a:rPr sz="1100" b="0">
                <a:solidFill>
                  <a:srgbClr val="FFFFFF"/>
                </a:solidFill>
                <a:latin typeface="Consolas"/>
              </a:rPr>
              <a:t>seq </a:t>
            </a:r>
            <a:r>
              <a:rPr sz="1100" b="0">
                <a:solidFill>
                  <a:srgbClr val="F1F5F9"/>
                </a:solidFill>
                <a:latin typeface="Consolas"/>
              </a:rPr>
              <a:t>= </a:t>
            </a:r>
            <a:r>
              <a:rPr sz="1100" b="0">
                <a:solidFill>
                  <a:srgbClr val="38BDF8"/>
                </a:solidFill>
                <a:latin typeface="Consolas"/>
              </a:rPr>
              <a:t>new </a:t>
            </a:r>
            <a:r>
              <a:rPr sz="1100" b="0">
                <a:solidFill>
                  <a:srgbClr val="F1F5F9"/>
                </a:solidFill>
                <a:latin typeface="Consolas"/>
              </a:rPr>
              <a:t>AtomicLong(1);</a:t>
            </a:r>
          </a:p>
          <a:p>
            <a:pPr algn="l">
              <a:lnSpc>
                <a:spcPct val="125000"/>
              </a:lnSpc>
            </a:pPr>
            <a:endParaRPr sz="1100" b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8BDF8"/>
                </a:solidFill>
                <a:latin typeface="Consolas"/>
              </a:rPr>
              <a:t>    public </a:t>
            </a:r>
            <a:r>
              <a:rPr sz="1100" b="0">
                <a:solidFill>
                  <a:srgbClr val="F1F5F9"/>
                </a:solidFill>
                <a:latin typeface="Consolas"/>
              </a:rPr>
              <a:t>Pessoa </a:t>
            </a:r>
            <a:r>
              <a:rPr sz="1100" b="1">
                <a:solidFill>
                  <a:srgbClr val="FFFFFF"/>
                </a:solidFill>
                <a:latin typeface="Consolas"/>
              </a:rPr>
              <a:t>salvar</a:t>
            </a:r>
            <a:r>
              <a:rPr sz="1100" b="0">
                <a:solidFill>
                  <a:srgbClr val="F1F5F9"/>
                </a:solidFill>
                <a:latin typeface="Consolas"/>
              </a:rPr>
              <a:t>(Pessoa p) {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F5F9"/>
                </a:solidFill>
                <a:latin typeface="Consolas"/>
              </a:rPr>
              <a:t>        p.setId(seq.getAndIncrement());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F5F9"/>
                </a:solidFill>
                <a:latin typeface="Consolas"/>
              </a:rPr>
              <a:t>        pessoas.add(p);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8BDF8"/>
                </a:solidFill>
                <a:latin typeface="Consolas"/>
              </a:rPr>
              <a:t>        return </a:t>
            </a:r>
            <a:r>
              <a:rPr sz="1100" b="0">
                <a:solidFill>
                  <a:srgbClr val="F1F5F9"/>
                </a:solidFill>
                <a:latin typeface="Consolas"/>
              </a:rPr>
              <a:t>p;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F5F9"/>
                </a:solidFill>
                <a:latin typeface="Consolas"/>
              </a:rPr>
              <a:t>    }</a:t>
            </a:r>
          </a:p>
          <a:p>
            <a:pPr algn="l">
              <a:lnSpc>
                <a:spcPct val="125000"/>
              </a:lnSpc>
            </a:pPr>
            <a:endParaRPr sz="1100" b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Consolas"/>
              </a:rPr>
              <a:t>    // buscarPorId, listarTodos, ...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Descomplicando a Arquitetura - Sistema Família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08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CAMADA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Outfit"/>
              </a:rPr>
              <a:t>Service - o cérebro das regras de negócio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920240"/>
            <a:ext cx="53949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Anotação: </a:t>
            </a:r>
            <a:r>
              <a:rPr sz="1300">
                <a:solidFill>
                  <a:srgbClr val="475569"/>
                </a:solidFill>
                <a:latin typeface="Inter"/>
              </a:rPr>
              <a:t>@Service (semântica de 'regra de negócio').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O que faz: </a:t>
            </a:r>
            <a:r>
              <a:rPr sz="1300">
                <a:solidFill>
                  <a:srgbClr val="475569"/>
                </a:solidFill>
                <a:latin typeface="Inter"/>
              </a:rPr>
              <a:t>orquestra Repositories e valida regras que envolvem o domínio.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Não conhece HTTP: </a:t>
            </a:r>
            <a:r>
              <a:rPr sz="1300">
                <a:solidFill>
                  <a:srgbClr val="475569"/>
                </a:solidFill>
                <a:latin typeface="Inter"/>
              </a:rPr>
              <a:t>nada de HttpRequest, JSON ou status code aqui.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Substitui o antigo: </a:t>
            </a:r>
            <a:r>
              <a:rPr sz="1300">
                <a:solidFill>
                  <a:srgbClr val="475569"/>
                </a:solidFill>
                <a:latin typeface="Inter"/>
              </a:rPr>
              <a:t>GestorPatrimonio (que era static) virou GestorPatrimonioService.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Quando algo da errado: </a:t>
            </a:r>
            <a:r>
              <a:rPr sz="1300">
                <a:solidFill>
                  <a:srgbClr val="475569"/>
                </a:solidFill>
                <a:latin typeface="Inter"/>
              </a:rPr>
              <a:t>lança BusinessException com uma mensagem clara.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920240"/>
            <a:ext cx="5532120" cy="4114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0" y="208483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601968" y="208483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03136" y="2084832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6190488" y="2331720"/>
            <a:ext cx="5495544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0" y="2423160"/>
            <a:ext cx="50749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D1FAE5"/>
                </a:solidFill>
                <a:latin typeface="Consolas"/>
              </a:rPr>
              <a:t>@Service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8BDF8"/>
                </a:solidFill>
                <a:latin typeface="Consolas"/>
              </a:rPr>
              <a:t>public class </a:t>
            </a:r>
            <a:r>
              <a:rPr sz="1000" b="1">
                <a:solidFill>
                  <a:srgbClr val="FFFFFF"/>
                </a:solidFill>
                <a:latin typeface="Consolas"/>
              </a:rPr>
              <a:t>PessoaService</a:t>
            </a:r>
            <a:r>
              <a:rPr sz="1000" b="0">
                <a:solidFill>
                  <a:srgbClr val="F1F5F9"/>
                </a:solidFill>
                <a:latin typeface="Consolas"/>
              </a:rPr>
              <a:t> {</a:t>
            </a:r>
          </a:p>
          <a:p>
            <a:pPr algn="l">
              <a:lnSpc>
                <a:spcPct val="125000"/>
              </a:lnSpc>
            </a:pPr>
            <a:endParaRPr sz="1000" b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F1F5F9"/>
                </a:solidFill>
                <a:latin typeface="Consolas"/>
              </a:rPr>
              <a:t>    private final PessoaRepository </a:t>
            </a:r>
            <a:r>
              <a:rPr sz="1000" b="0">
                <a:solidFill>
                  <a:srgbClr val="FFFFFF"/>
                </a:solidFill>
                <a:latin typeface="Consolas"/>
              </a:rPr>
              <a:t>repository;</a:t>
            </a:r>
          </a:p>
          <a:p>
            <a:pPr algn="l">
              <a:lnSpc>
                <a:spcPct val="125000"/>
              </a:lnSpc>
            </a:pPr>
            <a:endParaRPr sz="1000" b="0">
              <a:solidFill>
                <a:srgbClr val="FFFFFF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8BDF8"/>
                </a:solidFill>
                <a:latin typeface="Consolas"/>
              </a:rPr>
              <a:t>    public </a:t>
            </a:r>
            <a:r>
              <a:rPr sz="1000" b="1">
                <a:solidFill>
                  <a:srgbClr val="FFFFFF"/>
                </a:solidFill>
                <a:latin typeface="Consolas"/>
              </a:rPr>
              <a:t>PessoaService</a:t>
            </a:r>
            <a:r>
              <a:rPr sz="1000" b="0">
                <a:solidFill>
                  <a:srgbClr val="F1F5F9"/>
                </a:solidFill>
                <a:latin typeface="Consolas"/>
              </a:rPr>
              <a:t>(PessoaRepository r) {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F1F5F9"/>
                </a:solidFill>
                <a:latin typeface="Consolas"/>
              </a:rPr>
              <a:t>        this.repository = r;   </a:t>
            </a:r>
            <a:r>
              <a:rPr sz="1000" b="0">
                <a:solidFill>
                  <a:srgbClr val="94A3B8"/>
                </a:solidFill>
                <a:latin typeface="Consolas"/>
              </a:rPr>
              <a:t>// injeção via construtor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F1F5F9"/>
                </a:solidFill>
                <a:latin typeface="Consolas"/>
              </a:rPr>
              <a:t>    }</a:t>
            </a:r>
          </a:p>
          <a:p>
            <a:pPr algn="l">
              <a:lnSpc>
                <a:spcPct val="125000"/>
              </a:lnSpc>
            </a:pPr>
            <a:endParaRPr sz="1000" b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8BDF8"/>
                </a:solidFill>
                <a:latin typeface="Consolas"/>
              </a:rPr>
              <a:t>    public </a:t>
            </a:r>
            <a:r>
              <a:rPr sz="1000" b="0">
                <a:solidFill>
                  <a:srgbClr val="F1F5F9"/>
                </a:solidFill>
                <a:latin typeface="Consolas"/>
              </a:rPr>
              <a:t>Pessoa </a:t>
            </a:r>
            <a:r>
              <a:rPr sz="1000" b="1">
                <a:solidFill>
                  <a:srgbClr val="FFFFFF"/>
                </a:solidFill>
                <a:latin typeface="Consolas"/>
              </a:rPr>
              <a:t>cadastrar</a:t>
            </a:r>
            <a:r>
              <a:rPr sz="1000" b="0">
                <a:solidFill>
                  <a:srgbClr val="F1F5F9"/>
                </a:solidFill>
                <a:latin typeface="Consolas"/>
              </a:rPr>
              <a:t>(Pessoa p) {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8BDF8"/>
                </a:solidFill>
                <a:latin typeface="Consolas"/>
              </a:rPr>
              <a:t>        if </a:t>
            </a:r>
            <a:r>
              <a:rPr sz="1000" b="0">
                <a:solidFill>
                  <a:srgbClr val="F1F5F9"/>
                </a:solidFill>
                <a:latin typeface="Consolas"/>
              </a:rPr>
              <a:t>(p.getIdade() &lt; 0)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8BDF8"/>
                </a:solidFill>
                <a:latin typeface="Consolas"/>
              </a:rPr>
              <a:t>            throw new </a:t>
            </a:r>
            <a:r>
              <a:rPr sz="1000" b="0">
                <a:solidFill>
                  <a:srgbClr val="F1F5F9"/>
                </a:solidFill>
                <a:latin typeface="Consolas"/>
              </a:rPr>
              <a:t>BusinessException(</a:t>
            </a:r>
            <a:r>
              <a:rPr sz="1000" b="0">
                <a:solidFill>
                  <a:srgbClr val="FEF3C7"/>
                </a:solidFill>
                <a:latin typeface="Consolas"/>
              </a:rPr>
              <a:t>"Idade inválida"</a:t>
            </a:r>
            <a:r>
              <a:rPr sz="1000" b="0">
                <a:solidFill>
                  <a:srgbClr val="F1F5F9"/>
                </a:solidFill>
                <a:latin typeface="Consolas"/>
              </a:rPr>
              <a:t>);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8BDF8"/>
                </a:solidFill>
                <a:latin typeface="Consolas"/>
              </a:rPr>
              <a:t>        return </a:t>
            </a:r>
            <a:r>
              <a:rPr sz="1000" b="0">
                <a:solidFill>
                  <a:srgbClr val="F1F5F9"/>
                </a:solidFill>
                <a:latin typeface="Consolas"/>
              </a:rPr>
              <a:t>repository.salvar(p);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F1F5F9"/>
                </a:solidFill>
                <a:latin typeface="Consolas"/>
              </a:rPr>
              <a:t>    }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Descomplicando a Arquitetura - Sistema Família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09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CAMADA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Outfit"/>
              </a:rPr>
              <a:t>Controller - a porta de entrada HTTP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920240"/>
            <a:ext cx="53949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Anotação: </a:t>
            </a:r>
            <a:r>
              <a:rPr sz="1300">
                <a:solidFill>
                  <a:srgbClr val="475569"/>
                </a:solidFill>
                <a:latin typeface="Inter"/>
              </a:rPr>
              <a:t>@RestController + @RequestMapping('/pessoas').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Roteia: </a:t>
            </a:r>
            <a:r>
              <a:rPr sz="1300">
                <a:solidFill>
                  <a:srgbClr val="475569"/>
                </a:solidFill>
                <a:latin typeface="Inter"/>
              </a:rPr>
              <a:t>@GetMapping, @PostMapping, @PutMapping, @DeleteMapping.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Recebe: </a:t>
            </a:r>
            <a:r>
              <a:rPr sz="1300">
                <a:solidFill>
                  <a:srgbClr val="475569"/>
                </a:solidFill>
                <a:latin typeface="Inter"/>
              </a:rPr>
              <a:t>@RequestBody (JSON -&gt; DTO) e @PathVariable (id na URL).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Valida: </a:t>
            </a:r>
            <a:r>
              <a:rPr sz="1300">
                <a:solidFill>
                  <a:srgbClr val="475569"/>
                </a:solidFill>
                <a:latin typeface="Inter"/>
              </a:rPr>
              <a:t>@Valid dispara as anotações do Jakarta antes de entrar no método.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Devolve: </a:t>
            </a:r>
            <a:r>
              <a:rPr sz="1300">
                <a:solidFill>
                  <a:srgbClr val="475569"/>
                </a:solidFill>
                <a:latin typeface="Inter"/>
              </a:rPr>
              <a:t>ResponseEntity com código HTTP + JSON de resposta.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Não contém regra de negócio: </a:t>
            </a:r>
            <a:r>
              <a:rPr sz="1300">
                <a:solidFill>
                  <a:srgbClr val="475569"/>
                </a:solidFill>
                <a:latin typeface="Inter"/>
              </a:rPr>
              <a:t>APENAS delega para o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920240"/>
            <a:ext cx="5532120" cy="4114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0" y="208483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601968" y="208483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03136" y="2084832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6190488" y="2331720"/>
            <a:ext cx="5495544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0" y="2423160"/>
            <a:ext cx="50749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D1FAE5"/>
                </a:solidFill>
                <a:latin typeface="Consolas"/>
              </a:rPr>
              <a:t>@RestController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D1FAE5"/>
                </a:solidFill>
                <a:latin typeface="Consolas"/>
              </a:rPr>
              <a:t>@RequestMapping(</a:t>
            </a:r>
            <a:r>
              <a:rPr sz="1000" b="0">
                <a:solidFill>
                  <a:srgbClr val="FEF3C7"/>
                </a:solidFill>
                <a:latin typeface="Consolas"/>
              </a:rPr>
              <a:t>"/pessoas"</a:t>
            </a:r>
            <a:r>
              <a:rPr sz="1000" b="0">
                <a:solidFill>
                  <a:srgbClr val="D1FAE5"/>
                </a:solidFill>
                <a:latin typeface="Consolas"/>
              </a:rPr>
              <a:t>)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8BDF8"/>
                </a:solidFill>
                <a:latin typeface="Consolas"/>
              </a:rPr>
              <a:t>public class </a:t>
            </a:r>
            <a:r>
              <a:rPr sz="1000" b="1">
                <a:solidFill>
                  <a:srgbClr val="FFFFFF"/>
                </a:solidFill>
                <a:latin typeface="Consolas"/>
              </a:rPr>
              <a:t>PessoaController</a:t>
            </a:r>
            <a:r>
              <a:rPr sz="1000" b="0">
                <a:solidFill>
                  <a:srgbClr val="F1F5F9"/>
                </a:solidFill>
                <a:latin typeface="Consolas"/>
              </a:rPr>
              <a:t> {</a:t>
            </a:r>
          </a:p>
          <a:p>
            <a:pPr algn="l">
              <a:lnSpc>
                <a:spcPct val="125000"/>
              </a:lnSpc>
            </a:pPr>
            <a:endParaRPr sz="1000" b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F1F5F9"/>
                </a:solidFill>
                <a:latin typeface="Consolas"/>
              </a:rPr>
              <a:t>    private final PessoaService </a:t>
            </a:r>
            <a:r>
              <a:rPr sz="1000" b="0">
                <a:solidFill>
                  <a:srgbClr val="FFFFFF"/>
                </a:solidFill>
                <a:latin typeface="Consolas"/>
              </a:rPr>
              <a:t>service;</a:t>
            </a:r>
          </a:p>
          <a:p>
            <a:pPr algn="l">
              <a:lnSpc>
                <a:spcPct val="125000"/>
              </a:lnSpc>
            </a:pPr>
            <a:endParaRPr sz="1000" b="0">
              <a:solidFill>
                <a:srgbClr val="FFFFFF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8BDF8"/>
                </a:solidFill>
                <a:latin typeface="Consolas"/>
              </a:rPr>
              <a:t>    public </a:t>
            </a:r>
            <a:r>
              <a:rPr sz="1000" b="1">
                <a:solidFill>
                  <a:srgbClr val="FFFFFF"/>
                </a:solidFill>
                <a:latin typeface="Consolas"/>
              </a:rPr>
              <a:t>PessoaController</a:t>
            </a:r>
            <a:r>
              <a:rPr sz="1000" b="0">
                <a:solidFill>
                  <a:srgbClr val="F1F5F9"/>
                </a:solidFill>
                <a:latin typeface="Consolas"/>
              </a:rPr>
              <a:t>(PessoaService s) { this.service = s; }</a:t>
            </a:r>
          </a:p>
          <a:p>
            <a:pPr algn="l">
              <a:lnSpc>
                <a:spcPct val="125000"/>
              </a:lnSpc>
            </a:pPr>
            <a:endParaRPr sz="1000" b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D1FAE5"/>
                </a:solidFill>
                <a:latin typeface="Consolas"/>
              </a:rPr>
              <a:t>    @PostMapping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8BDF8"/>
                </a:solidFill>
                <a:latin typeface="Consolas"/>
              </a:rPr>
              <a:t>    public </a:t>
            </a:r>
            <a:r>
              <a:rPr sz="1000" b="0">
                <a:solidFill>
                  <a:srgbClr val="F1F5F9"/>
                </a:solidFill>
                <a:latin typeface="Consolas"/>
              </a:rPr>
              <a:t>ResponseEntity&lt;PessoaResponse&gt; </a:t>
            </a:r>
            <a:r>
              <a:rPr sz="1000" b="1">
                <a:solidFill>
                  <a:srgbClr val="FFFFFF"/>
                </a:solidFill>
                <a:latin typeface="Consolas"/>
              </a:rPr>
              <a:t>cadastrar</a:t>
            </a:r>
            <a:r>
              <a:rPr sz="1000" b="0">
                <a:solidFill>
                  <a:srgbClr val="F1F5F9"/>
                </a:solidFill>
                <a:latin typeface="Consolas"/>
              </a:rPr>
              <a:t>(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D1FAE5"/>
                </a:solidFill>
                <a:latin typeface="Consolas"/>
              </a:rPr>
              <a:t>            @Valid @RequestBody </a:t>
            </a:r>
            <a:r>
              <a:rPr sz="1000" b="0">
                <a:solidFill>
                  <a:srgbClr val="F1F5F9"/>
                </a:solidFill>
                <a:latin typeface="Consolas"/>
              </a:rPr>
              <a:t>PessoaRequest req) {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F1F5F9"/>
                </a:solidFill>
                <a:latin typeface="Consolas"/>
              </a:rPr>
              <a:t>        var salva = service.cadastrar(req.toModel());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8BDF8"/>
                </a:solidFill>
                <a:latin typeface="Consolas"/>
              </a:rPr>
              <a:t>        return </a:t>
            </a:r>
            <a:r>
              <a:rPr sz="1000" b="0">
                <a:solidFill>
                  <a:srgbClr val="F1F5F9"/>
                </a:solidFill>
                <a:latin typeface="Consolas"/>
              </a:rPr>
              <a:t>ResponseEntity.status(201).body(PessoaResponse.from(salva));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F1F5F9"/>
                </a:solidFill>
                <a:latin typeface="Consolas"/>
              </a:rPr>
              <a:t>    }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Descomplicando a Arquitetura - Sistema Família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CAMADA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Outfit"/>
              </a:rPr>
              <a:t>DTOs - o contrato de entrada e saída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75569"/>
                </a:solidFill>
                <a:latin typeface="Inter"/>
              </a:rPr>
              <a:t>Por que não mandar o Model direto no JSON? Porque acopla API + banco e vaza dados internos.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78024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73152" cy="1417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EA5E9"/>
                </a:solidFill>
                <a:latin typeface="Outfit"/>
              </a:rPr>
              <a:t>Request (o que ENTRA)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90088"/>
            <a:ext cx="5074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Cada @PostMapping / @PutMapping recebe um *Request.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É ali que colocamos as validações @NotBlank, @Positive, @Min, etc.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478024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63640" y="242316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2423160"/>
            <a:ext cx="73152" cy="1417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59669"/>
                </a:solidFill>
                <a:latin typeface="Outfit"/>
              </a:rPr>
              <a:t>Response (o que SAI)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90088"/>
            <a:ext cx="50749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Devolvemos SOMENTE os campos que fazem sentido para o cliente.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Ex: em vez de expor o objeto 'Pessoa dono', devolvemos 'donoId' e 'donoNome'.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39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7240" y="4142231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78408" y="4142231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79576" y="4142231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566928" y="4389119"/>
            <a:ext cx="5449824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4480559"/>
            <a:ext cx="50292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8BDF8"/>
                </a:solidFill>
                <a:latin typeface="Consolas"/>
              </a:rPr>
              <a:t>public record </a:t>
            </a:r>
            <a:r>
              <a:rPr sz="1100" b="1">
                <a:solidFill>
                  <a:srgbClr val="FFFFFF"/>
                </a:solidFill>
                <a:latin typeface="Consolas"/>
              </a:rPr>
              <a:t>PessoaRequest</a:t>
            </a:r>
            <a:r>
              <a:rPr sz="1100" b="0">
                <a:solidFill>
                  <a:srgbClr val="F1F5F9"/>
                </a:solidFill>
                <a:latin typeface="Consolas"/>
              </a:rPr>
              <a:t>(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D1FAE5"/>
                </a:solidFill>
                <a:latin typeface="Consolas"/>
              </a:rPr>
              <a:t>    @NotBlank </a:t>
            </a:r>
            <a:r>
              <a:rPr sz="1100" b="0">
                <a:solidFill>
                  <a:srgbClr val="F1F5F9"/>
                </a:solidFill>
                <a:latin typeface="Consolas"/>
              </a:rPr>
              <a:t>String nome,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D1FAE5"/>
                </a:solidFill>
                <a:latin typeface="Consolas"/>
              </a:rPr>
              <a:t>    @Min(0) </a:t>
            </a:r>
            <a:r>
              <a:rPr sz="1100" b="0">
                <a:solidFill>
                  <a:srgbClr val="F1F5F9"/>
                </a:solidFill>
                <a:latin typeface="Consolas"/>
              </a:rPr>
              <a:t>int idade,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D1FAE5"/>
                </a:solidFill>
                <a:latin typeface="Consolas"/>
              </a:rPr>
              <a:t>    @NotBlank </a:t>
            </a:r>
            <a:r>
              <a:rPr sz="1100" b="0">
                <a:solidFill>
                  <a:srgbClr val="F1F5F9"/>
                </a:solidFill>
                <a:latin typeface="Consolas"/>
              </a:rPr>
              <a:t>String parentesco,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D1FAE5"/>
                </a:solidFill>
                <a:latin typeface="Consolas"/>
              </a:rPr>
              <a:t>    @PositiveOrZero </a:t>
            </a:r>
            <a:r>
              <a:rPr sz="1100" b="0">
                <a:solidFill>
                  <a:srgbClr val="F1F5F9"/>
                </a:solidFill>
                <a:latin typeface="Consolas"/>
              </a:rPr>
              <a:t>double carteira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F5F9"/>
                </a:solidFill>
                <a:latin typeface="Consolas"/>
              </a:rPr>
              <a:t>) {}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977639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92240" y="4142231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693408" y="4142231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894576" y="4142231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6281928" y="4389119"/>
            <a:ext cx="5449824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92240" y="4480559"/>
            <a:ext cx="50292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8BDF8"/>
                </a:solidFill>
                <a:latin typeface="Consolas"/>
              </a:rPr>
              <a:t>public record </a:t>
            </a:r>
            <a:r>
              <a:rPr sz="1100" b="1">
                <a:solidFill>
                  <a:srgbClr val="FFFFFF"/>
                </a:solidFill>
                <a:latin typeface="Consolas"/>
              </a:rPr>
              <a:t>PessoaResponse</a:t>
            </a:r>
            <a:r>
              <a:rPr sz="1100" b="0">
                <a:solidFill>
                  <a:srgbClr val="F1F5F9"/>
                </a:solidFill>
                <a:latin typeface="Consolas"/>
              </a:rPr>
              <a:t>(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F5F9"/>
                </a:solidFill>
                <a:latin typeface="Consolas"/>
              </a:rPr>
              <a:t>    Long id,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F5F9"/>
                </a:solidFill>
                <a:latin typeface="Consolas"/>
              </a:rPr>
              <a:t>    String nome, int idade,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F5F9"/>
                </a:solidFill>
                <a:latin typeface="Consolas"/>
              </a:rPr>
              <a:t>    String parentesco,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F5F9"/>
                </a:solidFill>
                <a:latin typeface="Consolas"/>
              </a:rPr>
              <a:t>    double carteira, double dívida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F5F9"/>
                </a:solidFill>
                <a:latin typeface="Consolas"/>
              </a:rPr>
              <a:t>) {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8BDF8"/>
                </a:solidFill>
                <a:latin typeface="Consolas"/>
              </a:rPr>
              <a:t>    public static </a:t>
            </a:r>
            <a:r>
              <a:rPr sz="1100" b="0">
                <a:solidFill>
                  <a:srgbClr val="F1F5F9"/>
                </a:solidFill>
                <a:latin typeface="Consolas"/>
              </a:rPr>
              <a:t>PessoaResponse </a:t>
            </a:r>
            <a:r>
              <a:rPr sz="1100" b="1">
                <a:solidFill>
                  <a:srgbClr val="FFFFFF"/>
                </a:solidFill>
                <a:latin typeface="Consolas"/>
              </a:rPr>
              <a:t>from</a:t>
            </a:r>
            <a:r>
              <a:rPr sz="1100" b="0">
                <a:solidFill>
                  <a:srgbClr val="F1F5F9"/>
                </a:solidFill>
                <a:latin typeface="Consolas"/>
              </a:rPr>
              <a:t>(Pessoa p) { ... }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Descomplicando a Arquitetura - Sistema Família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CAMADA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Outfit"/>
              </a:rPr>
              <a:t>Exception + GlobalExceptionHandler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920240"/>
            <a:ext cx="53949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BusinessException: </a:t>
            </a:r>
            <a:r>
              <a:rPr sz="1300">
                <a:solidFill>
                  <a:srgbClr val="475569"/>
                </a:solidFill>
                <a:latin typeface="Inter"/>
              </a:rPr>
              <a:t>regra de negócio violada (422).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NotFoundException: </a:t>
            </a:r>
            <a:r>
              <a:rPr sz="1300">
                <a:solidFill>
                  <a:srgbClr val="475569"/>
                </a:solidFill>
                <a:latin typeface="Inter"/>
              </a:rPr>
              <a:t>id não encontrado (404).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MethodArgumentNotValidException: </a:t>
            </a:r>
            <a:r>
              <a:rPr sz="1300">
                <a:solidFill>
                  <a:srgbClr val="475569"/>
                </a:solidFill>
                <a:latin typeface="Inter"/>
              </a:rPr>
              <a:t>campo inválido no @Valid (400).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GlobalExceptionHandler: </a:t>
            </a:r>
            <a:r>
              <a:rPr sz="1300">
                <a:solidFill>
                  <a:srgbClr val="475569"/>
                </a:solidFill>
                <a:latin typeface="Inter"/>
              </a:rPr>
              <a:t>anotado com @RestControllerAdvice, intercepta TUDO.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Vantagem: </a:t>
            </a:r>
            <a:r>
              <a:rPr sz="1300">
                <a:solidFill>
                  <a:srgbClr val="475569"/>
                </a:solidFill>
                <a:latin typeface="Inter"/>
              </a:rPr>
              <a:t>código do Service permanece limpo, focado na regra.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Resposta padrão: </a:t>
            </a:r>
            <a:r>
              <a:rPr sz="1300">
                <a:solidFill>
                  <a:srgbClr val="475569"/>
                </a:solidFill>
                <a:latin typeface="Inter"/>
              </a:rPr>
              <a:t>sempre um JSON no mesmo formato (timestamp, status, erro, mensagem).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920240"/>
            <a:ext cx="5532120" cy="4114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0" y="208483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601968" y="208483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03136" y="2084832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6190488" y="2331720"/>
            <a:ext cx="5495544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0" y="2423160"/>
            <a:ext cx="50749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D1FAE5"/>
                </a:solidFill>
                <a:latin typeface="Consolas"/>
              </a:rPr>
              <a:t>@RestControllerAdvice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8BDF8"/>
                </a:solidFill>
                <a:latin typeface="Consolas"/>
              </a:rPr>
              <a:t>public class </a:t>
            </a:r>
            <a:r>
              <a:rPr sz="1000" b="1">
                <a:solidFill>
                  <a:srgbClr val="FFFFFF"/>
                </a:solidFill>
                <a:latin typeface="Consolas"/>
              </a:rPr>
              <a:t>GlobalExceptionHandler</a:t>
            </a:r>
            <a:r>
              <a:rPr sz="1000" b="0">
                <a:solidFill>
                  <a:srgbClr val="F1F5F9"/>
                </a:solidFill>
                <a:latin typeface="Consolas"/>
              </a:rPr>
              <a:t> {</a:t>
            </a:r>
          </a:p>
          <a:p>
            <a:pPr algn="l">
              <a:lnSpc>
                <a:spcPct val="125000"/>
              </a:lnSpc>
            </a:pPr>
            <a:endParaRPr sz="1000" b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D1FAE5"/>
                </a:solidFill>
                <a:latin typeface="Consolas"/>
              </a:rPr>
              <a:t>    @ExceptionHandler(BusinessException.class)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8BDF8"/>
                </a:solidFill>
                <a:latin typeface="Consolas"/>
              </a:rPr>
              <a:t>    public </a:t>
            </a:r>
            <a:r>
              <a:rPr sz="1000" b="0">
                <a:solidFill>
                  <a:srgbClr val="F1F5F9"/>
                </a:solidFill>
                <a:latin typeface="Consolas"/>
              </a:rPr>
              <a:t>ResponseEntity&lt;ErroResponse&gt; </a:t>
            </a:r>
            <a:r>
              <a:rPr sz="1000" b="1">
                <a:solidFill>
                  <a:srgbClr val="FFFFFF"/>
                </a:solidFill>
                <a:latin typeface="Consolas"/>
              </a:rPr>
              <a:t>regra</a:t>
            </a:r>
            <a:r>
              <a:rPr sz="1000" b="0">
                <a:solidFill>
                  <a:srgbClr val="F1F5F9"/>
                </a:solidFill>
                <a:latin typeface="Consolas"/>
              </a:rPr>
              <a:t>(BusinessException e) {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38BDF8"/>
                </a:solidFill>
                <a:latin typeface="Consolas"/>
              </a:rPr>
              <a:t>        return </a:t>
            </a:r>
            <a:r>
              <a:rPr sz="1000" b="0">
                <a:solidFill>
                  <a:srgbClr val="F1F5F9"/>
                </a:solidFill>
                <a:latin typeface="Consolas"/>
              </a:rPr>
              <a:t>ResponseEntity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F1F5F9"/>
                </a:solidFill>
                <a:latin typeface="Consolas"/>
              </a:rPr>
              <a:t>            .status(422)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F1F5F9"/>
                </a:solidFill>
                <a:latin typeface="Consolas"/>
              </a:rPr>
              <a:t>            .body(ErroResponse.of(422, </a:t>
            </a:r>
            <a:r>
              <a:rPr sz="1000" b="0">
                <a:solidFill>
                  <a:srgbClr val="FEF3C7"/>
                </a:solidFill>
                <a:latin typeface="Consolas"/>
              </a:rPr>
              <a:t>"Regra violada"</a:t>
            </a:r>
            <a:r>
              <a:rPr sz="1000" b="0">
                <a:solidFill>
                  <a:srgbClr val="F1F5F9"/>
                </a:solidFill>
                <a:latin typeface="Consolas"/>
              </a:rPr>
              <a:t>, e.getMessage()));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F1F5F9"/>
                </a:solidFill>
                <a:latin typeface="Consolas"/>
              </a:rPr>
              <a:t>    }</a:t>
            </a:r>
          </a:p>
          <a:p>
            <a:pPr algn="l">
              <a:lnSpc>
                <a:spcPct val="125000"/>
              </a:lnSpc>
            </a:pPr>
            <a:endParaRPr sz="1000" b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94A3B8"/>
                </a:solidFill>
                <a:latin typeface="Consolas"/>
              </a:rPr>
              <a:t>    // handlers para 400, 404, 500...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Descomplicando a Arquitetura - Sistema Família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01168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284C7"/>
                </a:solidFill>
                <a:latin typeface="Inter"/>
              </a:rPr>
              <a:t>PARTE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0F172A"/>
                </a:solidFill>
                <a:latin typeface="Outfit"/>
              </a:rPr>
              <a:t>Injeção de Dependência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4748B"/>
                </a:solidFill>
                <a:latin typeface="Inter"/>
              </a:rPr>
              <a:t>Como as camadas se encontram sem precisar dar 'new' em nada.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4617720"/>
            <a:ext cx="2743200" cy="0"/>
          </a:xfrm>
          <a:prstGeom prst="line">
            <a:avLst/>
          </a:prstGeom>
          <a:ln w="317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INJEÇÃO DE DEPENDÊNCIA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Outfit"/>
              </a:rPr>
              <a:t>O que é DI e por que ela facilita a vida?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975104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73152" cy="4297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DC2626"/>
                </a:solidFill>
                <a:latin typeface="Outfit"/>
              </a:rPr>
              <a:t>SEM injeção de dependência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87168"/>
            <a:ext cx="5074920" cy="3593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Cada classe cria as suas dependências com 'new'.</a:t>
            </a:r>
          </a:p>
          <a:p>
            <a:pPr algn="l">
              <a:lnSpc>
                <a:spcPct val="128000"/>
              </a:lnSpc>
            </a:pPr>
            <a:endParaRPr sz="1200" b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* Alto acoplamento: se o construtor mudar, quebra tudo.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* Difícil de testar: não da para trocar por um mock.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* Duplicação: cada canto do código cria a mesma instância.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75104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63640" y="1920240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920240"/>
            <a:ext cx="73152" cy="42976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5074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59669"/>
                </a:solidFill>
                <a:latin typeface="Outfit"/>
              </a:rPr>
              <a:t>COM injeção de dependência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487168"/>
            <a:ext cx="5074920" cy="3593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A classe apenas DECLARA o que precisa. O Spring entrega pronto.</a:t>
            </a:r>
          </a:p>
          <a:p>
            <a:pPr algn="l">
              <a:lnSpc>
                <a:spcPct val="128000"/>
              </a:lnSpc>
            </a:pPr>
            <a:endParaRPr sz="1200" b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* Baixo acoplamento: falamos com a interface, não com o 'new'.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* Fácil de testar: injeta-se um mock/fake no lugar do real.</a:t>
            </a:r>
          </a:p>
          <a:p>
            <a:pPr algn="l">
              <a:lnSpc>
                <a:spcPct val="128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* Instância única reutilizada (singleton) - performático e coerente.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Descomplicando a Arquitetura - Sistema Família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INJEÇÃO DE DEPENDÊNCIA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Outfit"/>
              </a:rPr>
              <a:t>Como o Spring faz a mágica acontecer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03708" y="1965960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0F9FF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8027" y="219456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EA5E9"/>
                </a:solidFill>
                <a:latin typeface="Outfit"/>
              </a:rPr>
              <a:t>1. Marca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027" y="2743200"/>
            <a:ext cx="3154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75569"/>
                </a:solidFill>
                <a:latin typeface="Inter"/>
              </a:rPr>
              <a:t>Colocamos @Component / @Service / @Repository / @RestController nas classes.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4188" y="1965960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E0E7FF"/>
          </a:solidFill>
          <a:ln w="952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8507" y="219456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4F46E5"/>
                </a:solidFill>
                <a:latin typeface="Outfit"/>
              </a:rPr>
              <a:t>2. Escaneia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8507" y="2743200"/>
            <a:ext cx="3154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75569"/>
                </a:solidFill>
                <a:latin typeface="Inter"/>
              </a:rPr>
              <a:t>No startup, o Spring varre os pacotes e registra tudo no ApplicationContext (o 'sacola de beans').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4668" y="1965960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 w="952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58987" y="219456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59669"/>
                </a:solidFill>
                <a:latin typeface="Outfit"/>
              </a:rPr>
              <a:t>3. Injeta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8987" y="2743200"/>
            <a:ext cx="315468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75569"/>
                </a:solidFill>
                <a:latin typeface="Inter"/>
              </a:rPr>
              <a:t>Ao criar uma classe, ele olha o construtor e entrega as dependências já prontas.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434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75569"/>
                </a:solidFill>
                <a:latin typeface="Inter"/>
              </a:rPr>
              <a:t>A forma recomendada hoje é injeção via construtor (final + sem @Autowired explícito):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11109960" cy="16002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7240" y="491947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8408" y="491947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79576" y="4919472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566928" y="5166360"/>
            <a:ext cx="11073384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5257800"/>
            <a:ext cx="1065276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D1FAE5"/>
                </a:solidFill>
                <a:latin typeface="Consolas"/>
              </a:rPr>
              <a:t>@RestController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8BDF8"/>
                </a:solidFill>
                <a:latin typeface="Consolas"/>
              </a:rPr>
              <a:t>public class </a:t>
            </a:r>
            <a:r>
              <a:rPr sz="1100" b="1">
                <a:solidFill>
                  <a:srgbClr val="FFFFFF"/>
                </a:solidFill>
                <a:latin typeface="Consolas"/>
              </a:rPr>
              <a:t>PessoaController</a:t>
            </a:r>
            <a:r>
              <a:rPr sz="1100" b="0">
                <a:solidFill>
                  <a:srgbClr val="F1F5F9"/>
                </a:solidFill>
                <a:latin typeface="Consolas"/>
              </a:rPr>
              <a:t> {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F5F9"/>
                </a:solidFill>
                <a:latin typeface="Consolas"/>
              </a:rPr>
              <a:t>    private final PessoaService service;   </a:t>
            </a:r>
            <a:r>
              <a:rPr sz="1100" b="0">
                <a:solidFill>
                  <a:srgbClr val="94A3B8"/>
                </a:solidFill>
                <a:latin typeface="Consolas"/>
              </a:rPr>
              <a:t>// campo 'final' garante que será injetado uma única vez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8BDF8"/>
                </a:solidFill>
                <a:latin typeface="Consolas"/>
              </a:rPr>
              <a:t>    public </a:t>
            </a:r>
            <a:r>
              <a:rPr sz="1100" b="1">
                <a:solidFill>
                  <a:srgbClr val="FFFFFF"/>
                </a:solidFill>
                <a:latin typeface="Consolas"/>
              </a:rPr>
              <a:t>PessoaController</a:t>
            </a:r>
            <a:r>
              <a:rPr sz="1100" b="0">
                <a:solidFill>
                  <a:srgbClr val="F1F5F9"/>
                </a:solidFill>
                <a:latin typeface="Consolas"/>
              </a:rPr>
              <a:t>(PessoaService service) { this.service = service; }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Descomplicando a Arquitetura - Sistema Família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INJEÇÃO DE DEPENDÊNCIA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Outfit"/>
              </a:rPr>
              <a:t>A cadeia de injeção no nosso projeto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901288" y="1965960"/>
            <a:ext cx="4389120" cy="9601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75607" y="21031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34155"/>
                </a:solidFill>
                <a:latin typeface="Outfit"/>
              </a:rPr>
              <a:t>Spring ApplicationContext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5607" y="25146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cria e gerencia todos os beans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01288" y="3200400"/>
            <a:ext cx="4389120" cy="96012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75607" y="33375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7C3AED"/>
                </a:solidFill>
                <a:latin typeface="Outfit"/>
              </a:rPr>
              <a:t>PessoaRepository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75607" y="374904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@Repository - lista em memória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01288" y="4434840"/>
            <a:ext cx="4389120" cy="96012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75607" y="45720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4F46E5"/>
                </a:solidFill>
                <a:latin typeface="Outfit"/>
              </a:rPr>
              <a:t>PessoaService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5607" y="498348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@Service - recebe PessoaRepository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01288" y="5669280"/>
            <a:ext cx="4389120" cy="9601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75607" y="580644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EA5E9"/>
                </a:solidFill>
                <a:latin typeface="Outfit"/>
              </a:rPr>
              <a:t>PessoaController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5607" y="62179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@RestController - recebe PessoaService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8" y="2944368"/>
            <a:ext cx="0" cy="237744"/>
          </a:xfrm>
          <a:prstGeom prst="line">
            <a:avLst/>
          </a:prstGeom>
          <a:ln w="22860">
            <a:solidFill>
              <a:srgbClr val="94A3B8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95848" y="4178808"/>
            <a:ext cx="0" cy="237744"/>
          </a:xfrm>
          <a:prstGeom prst="line">
            <a:avLst/>
          </a:prstGeom>
          <a:ln w="22860">
            <a:solidFill>
              <a:srgbClr val="94A3B8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5848" y="5413248"/>
            <a:ext cx="0" cy="237744"/>
          </a:xfrm>
          <a:prstGeom prst="line">
            <a:avLst/>
          </a:prstGeom>
          <a:ln w="22860">
            <a:solidFill>
              <a:srgbClr val="94A3B8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78240" y="2103120"/>
            <a:ext cx="32004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Você nunca escreve 'new'.</a:t>
            </a:r>
          </a:p>
          <a:p>
            <a:pPr algn="l">
              <a:lnSpc>
                <a:spcPct val="135000"/>
              </a:lnSpc>
            </a:pPr>
            <a:endParaRPr sz="1200" b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O Spring: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1) Cria o Repository.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2) Cria o Service e passa o Repository.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3) Cria o Controller e passa o Service.</a:t>
            </a:r>
          </a:p>
          <a:p>
            <a:pPr algn="l">
              <a:lnSpc>
                <a:spcPct val="135000"/>
              </a:lnSpc>
            </a:pPr>
            <a:endParaRPr sz="1200" b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475569"/>
                </a:solidFill>
                <a:latin typeface="Inter"/>
              </a:rPr>
              <a:t>Se amanhã algum construtor mudar, o Spring resolve.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Descomplicando a Arquitetura - Sistema Família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01168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284C7"/>
                </a:solidFill>
                <a:latin typeface="Inter"/>
              </a:rPr>
              <a:t>PARTE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0F172A"/>
                </a:solidFill>
                <a:latin typeface="Outfit"/>
              </a:rPr>
              <a:t>O Ciclo de uma Requisição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4748B"/>
                </a:solidFill>
                <a:latin typeface="Inter"/>
              </a:rPr>
              <a:t>Do clique no Postman até a resposta em JSON, passo a passo.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4617720"/>
            <a:ext cx="2743200" cy="0"/>
          </a:xfrm>
          <a:prstGeom prst="line">
            <a:avLst/>
          </a:prstGeom>
          <a:ln w="317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CICLO DA REQUISIÇÃO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Outfit"/>
              </a:rPr>
              <a:t>Passo a passo: POST /pessoas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548640" y="1847088"/>
            <a:ext cx="438912" cy="43891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4708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Outfi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8288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93B"/>
                </a:solidFill>
                <a:latin typeface="Outfit"/>
              </a:rPr>
              <a:t>1. Cliente envia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8483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Inter"/>
              </a:rPr>
              <a:t>POST /pessoas com JSON no body.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95728"/>
            <a:ext cx="438912" cy="43891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Outfi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37744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93B"/>
                </a:solidFill>
                <a:latin typeface="Outfit"/>
              </a:rPr>
              <a:t>2. Spring recebe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63347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Inter"/>
              </a:rPr>
              <a:t>Dispatcher acha o Controller certo e o método pelo verbo/URL.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944368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94436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Outfi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92608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93B"/>
                </a:solidFill>
                <a:latin typeface="Outfit"/>
              </a:rPr>
              <a:t>3. Body vira DTO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18211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Inter"/>
              </a:rPr>
              <a:t>Jackson converte JSON em PessoaRequest.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493008"/>
            <a:ext cx="438912" cy="43891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49300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Outfi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47472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93B"/>
                </a:solidFill>
                <a:latin typeface="Outfit"/>
              </a:rPr>
              <a:t>4. @Valid roda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73075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Inter"/>
              </a:rPr>
              <a:t>Validações disparam. Se falha → 400 automático.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041648"/>
            <a:ext cx="438912" cy="43891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04164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Outfit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0233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93B"/>
                </a:solidFill>
                <a:latin typeface="Outfit"/>
              </a:rPr>
              <a:t>5. Controller delega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27939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Inter"/>
              </a:rPr>
              <a:t>Converte DTO em Pessoa e chama service.cadastrar(...).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590288"/>
            <a:ext cx="438912" cy="43891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59028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Outfit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57200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93B"/>
                </a:solidFill>
                <a:latin typeface="Outfit"/>
              </a:rPr>
              <a:t>6. Service aplica regra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82803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Inter"/>
              </a:rPr>
              <a:t>Valida idade/dono/saldo. Chama o Repository.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5138928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513892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Outfit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12064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93B"/>
                </a:solidFill>
                <a:latin typeface="Outfit"/>
              </a:rPr>
              <a:t>7. Repository salva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537667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Inter"/>
              </a:rPr>
              <a:t>Gera id e adiciona na lista em memória.</a:t>
            </a:r>
          </a:p>
        </p:txBody>
      </p:sp>
      <p:sp>
        <p:nvSpPr>
          <p:cNvPr id="33" name="Oval 32"/>
          <p:cNvSpPr/>
          <p:nvPr/>
        </p:nvSpPr>
        <p:spPr>
          <a:xfrm>
            <a:off x="548640" y="5687568"/>
            <a:ext cx="438912" cy="43891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568756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Outfit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566928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93B"/>
                </a:solidFill>
                <a:latin typeface="Outfit"/>
              </a:rPr>
              <a:t>8. Volta a resposta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" y="592531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Inter"/>
              </a:rPr>
              <a:t>Service devolve Pessoa -&gt; Controller monta PessoaResponse -&gt; JSON 201.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Descomplicando a Arquitetura - Sistema Família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CICLO DA REQUISIÇÃO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Outfit"/>
              </a:rPr>
              <a:t>Validação declarativa com Jakarta Bean Validation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920240"/>
            <a:ext cx="53949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Antes: </a:t>
            </a:r>
            <a:r>
              <a:rPr sz="1300">
                <a:solidFill>
                  <a:srgbClr val="475569"/>
                </a:solidFill>
                <a:latin typeface="Inter"/>
              </a:rPr>
              <a:t>if (nome == null || nome.isBlank()) { ... } espalhado no código.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Agora: </a:t>
            </a:r>
            <a:r>
              <a:rPr sz="1300">
                <a:solidFill>
                  <a:srgbClr val="475569"/>
                </a:solidFill>
                <a:latin typeface="Inter"/>
              </a:rPr>
              <a:t>anotamos o campo do DTO e o Spring valida sozinho.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@NotBlank </a:t>
            </a:r>
            <a:r>
              <a:rPr sz="1300">
                <a:solidFill>
                  <a:srgbClr val="475569"/>
                </a:solidFill>
                <a:latin typeface="Inter"/>
              </a:rPr>
              <a:t>- string obrigatória e não vazia.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@Min(0) / @Max </a:t>
            </a:r>
            <a:r>
              <a:rPr sz="1300">
                <a:solidFill>
                  <a:srgbClr val="475569"/>
                </a:solidFill>
                <a:latin typeface="Inter"/>
              </a:rPr>
              <a:t>- limites numéricos.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@Positive / @PositiveOrZero </a:t>
            </a:r>
            <a:r>
              <a:rPr sz="1300">
                <a:solidFill>
                  <a:srgbClr val="475569"/>
                </a:solidFill>
                <a:latin typeface="Inter"/>
              </a:rPr>
              <a:t>- exige número &gt; 0 (ou &gt;= 0).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@Email, @Pattern, @Size </a:t>
            </a:r>
            <a:r>
              <a:rPr sz="1300">
                <a:solidFill>
                  <a:srgbClr val="475569"/>
                </a:solidFill>
                <a:latin typeface="Inter"/>
              </a:rPr>
              <a:t>- outras validações prontas.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Se falhar: </a:t>
            </a:r>
            <a:r>
              <a:rPr sz="1300">
                <a:solidFill>
                  <a:srgbClr val="475569"/>
                </a:solidFill>
                <a:latin typeface="Inter"/>
              </a:rPr>
              <a:t>400 Bad Request automático com a lista de erros.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920240"/>
            <a:ext cx="5532120" cy="41148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0" y="208483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601968" y="208483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03136" y="2084832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6190488" y="2331720"/>
            <a:ext cx="5495544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0" y="2423160"/>
            <a:ext cx="50749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8BDF8"/>
                </a:solidFill>
                <a:latin typeface="Consolas"/>
              </a:rPr>
              <a:t>public record </a:t>
            </a:r>
            <a:r>
              <a:rPr sz="1100" b="1">
                <a:solidFill>
                  <a:srgbClr val="FFFFFF"/>
                </a:solidFill>
                <a:latin typeface="Consolas"/>
              </a:rPr>
              <a:t>CasaRequest</a:t>
            </a:r>
            <a:r>
              <a:rPr sz="1100" b="0">
                <a:solidFill>
                  <a:srgbClr val="F1F5F9"/>
                </a:solidFill>
                <a:latin typeface="Consolas"/>
              </a:rPr>
              <a:t>(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D1FAE5"/>
                </a:solidFill>
                <a:latin typeface="Consolas"/>
              </a:rPr>
              <a:t>    @NotBlank </a:t>
            </a:r>
            <a:r>
              <a:rPr sz="1100" b="0">
                <a:solidFill>
                  <a:srgbClr val="F1F5F9"/>
                </a:solidFill>
                <a:latin typeface="Consolas"/>
              </a:rPr>
              <a:t>String nome,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D1FAE5"/>
                </a:solidFill>
                <a:latin typeface="Consolas"/>
              </a:rPr>
              <a:t>    @Min(0) </a:t>
            </a:r>
            <a:r>
              <a:rPr sz="1100" b="0">
                <a:solidFill>
                  <a:srgbClr val="F1F5F9"/>
                </a:solidFill>
                <a:latin typeface="Consolas"/>
              </a:rPr>
              <a:t>int idade,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D1FAE5"/>
                </a:solidFill>
                <a:latin typeface="Consolas"/>
              </a:rPr>
              <a:t>    @NotBlank </a:t>
            </a:r>
            <a:r>
              <a:rPr sz="1100" b="0">
                <a:solidFill>
                  <a:srgbClr val="F1F5F9"/>
                </a:solidFill>
                <a:latin typeface="Consolas"/>
              </a:rPr>
              <a:t>String endereco,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D1FAE5"/>
                </a:solidFill>
                <a:latin typeface="Consolas"/>
              </a:rPr>
              <a:t>    @Positive </a:t>
            </a:r>
            <a:r>
              <a:rPr sz="1100" b="0">
                <a:solidFill>
                  <a:srgbClr val="F1F5F9"/>
                </a:solidFill>
                <a:latin typeface="Consolas"/>
              </a:rPr>
              <a:t>double valor,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D1FAE5"/>
                </a:solidFill>
                <a:latin typeface="Consolas"/>
              </a:rPr>
              <a:t>    @NotNull </a:t>
            </a:r>
            <a:r>
              <a:rPr sz="1100" b="0">
                <a:solidFill>
                  <a:srgbClr val="F1F5F9"/>
                </a:solidFill>
                <a:latin typeface="Consolas"/>
              </a:rPr>
              <a:t>Long donoId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F1F5F9"/>
                </a:solidFill>
                <a:latin typeface="Consolas"/>
              </a:rPr>
              <a:t>) {}</a:t>
            </a:r>
          </a:p>
          <a:p>
            <a:pPr algn="l">
              <a:lnSpc>
                <a:spcPct val="125000"/>
              </a:lnSpc>
            </a:pPr>
            <a:endParaRPr sz="1100" b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Consolas"/>
              </a:rPr>
              <a:t>// no Controller: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8BDF8"/>
                </a:solidFill>
                <a:latin typeface="Consolas"/>
              </a:rPr>
              <a:t>public </a:t>
            </a:r>
            <a:r>
              <a:rPr sz="1100" b="0">
                <a:solidFill>
                  <a:srgbClr val="F1F5F9"/>
                </a:solidFill>
                <a:latin typeface="Consolas"/>
              </a:rPr>
              <a:t>ResponseEntity&lt;...&gt; cadastrar(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D1FAE5"/>
                </a:solidFill>
                <a:latin typeface="Consolas"/>
              </a:rPr>
              <a:t>    @Valid @RequestBody </a:t>
            </a:r>
            <a:r>
              <a:rPr sz="1100" b="0">
                <a:solidFill>
                  <a:srgbClr val="F1F5F9"/>
                </a:solidFill>
                <a:latin typeface="Consolas"/>
              </a:rPr>
              <a:t>CasaRequest req) { ...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Descomplicando a Arquitetura - Sistema Família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01168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284C7"/>
                </a:solidFill>
                <a:latin typeface="Inter"/>
              </a:rPr>
              <a:t>PARTE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0F172A"/>
                </a:solidFill>
                <a:latin typeface="Outfit"/>
              </a:rPr>
              <a:t>Estrutura de Pastas e Rotas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4748B"/>
                </a:solidFill>
                <a:latin typeface="Inter"/>
              </a:rPr>
              <a:t>Como o código está organizado no repositório e quais URLs a API expõe.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4617720"/>
            <a:ext cx="2743200" cy="0"/>
          </a:xfrm>
          <a:prstGeom prst="line">
            <a:avLst/>
          </a:prstGeom>
          <a:ln w="317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ESTRUTURA DE PASTAS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Outfit"/>
              </a:rPr>
              <a:t>Como o projeto está organizado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874519"/>
            <a:ext cx="11109960" cy="43434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106984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300">
                <a:solidFill>
                  <a:srgbClr val="38BDF8"/>
                </a:solidFill>
                <a:latin typeface="Consolas"/>
              </a:rPr>
              <a:t>sistema-família-api/</a:t>
            </a:r>
          </a:p>
          <a:p>
            <a:pPr>
              <a:lnSpc>
                <a:spcPct val="122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|-- pom.xml                                  &lt;- dependências do Maven</a:t>
            </a:r>
          </a:p>
          <a:p>
            <a:pPr>
              <a:lnSpc>
                <a:spcPct val="122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|-- README.md</a:t>
            </a:r>
          </a:p>
          <a:p>
            <a:pPr>
              <a:lnSpc>
                <a:spcPct val="122000"/>
              </a:lnSpc>
            </a:pPr>
            <a:r>
              <a:rPr sz="1300">
                <a:solidFill>
                  <a:srgbClr val="38BDF8"/>
                </a:solidFill>
                <a:latin typeface="Consolas"/>
              </a:rPr>
              <a:t>`-- src/main/</a:t>
            </a:r>
          </a:p>
          <a:p>
            <a:pPr>
              <a:lnSpc>
                <a:spcPct val="122000"/>
              </a:lnSpc>
            </a:pPr>
            <a:r>
              <a:rPr sz="1300">
                <a:solidFill>
                  <a:srgbClr val="38BDF8"/>
                </a:solidFill>
                <a:latin typeface="Consolas"/>
              </a:rPr>
              <a:t>    |-- java/com/altzen/família/api/</a:t>
            </a:r>
          </a:p>
          <a:p>
            <a:pPr>
              <a:lnSpc>
                <a:spcPct val="122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    |   |-- SistemaFamiliaApiApplication.java   &lt;- main() do Spring Boot</a:t>
            </a:r>
          </a:p>
          <a:p>
            <a:pPr>
              <a:lnSpc>
                <a:spcPct val="122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    |   |</a:t>
            </a:r>
          </a:p>
          <a:p>
            <a:pPr>
              <a:lnSpc>
                <a:spcPct val="122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    |   |-- model/          &lt;- Pessoa, Animal, Casa, Carro</a:t>
            </a:r>
          </a:p>
          <a:p>
            <a:pPr>
              <a:lnSpc>
                <a:spcPct val="122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    |   |-- repository/     &lt;- listas em memória (singleton)</a:t>
            </a:r>
          </a:p>
          <a:p>
            <a:pPr>
              <a:lnSpc>
                <a:spcPct val="122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    |   |-- service/        &lt;- regras de negócio (Services)</a:t>
            </a:r>
          </a:p>
          <a:p>
            <a:pPr>
              <a:lnSpc>
                <a:spcPct val="122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    |   |-- controller/     &lt;- endpoints REST (@RestController)</a:t>
            </a:r>
          </a:p>
          <a:p>
            <a:pPr>
              <a:lnSpc>
                <a:spcPct val="122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    |   |-- dto/            &lt;- Request / Response de cada rota</a:t>
            </a:r>
          </a:p>
          <a:p>
            <a:pPr>
              <a:lnSpc>
                <a:spcPct val="122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    |   `-- exception/      &lt;- BusinessException, NotFoundException,</a:t>
            </a:r>
          </a:p>
          <a:p>
            <a:pPr>
              <a:lnSpc>
                <a:spcPct val="122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    |                          ErroResponse, GlobalExceptionHandler</a:t>
            </a:r>
          </a:p>
          <a:p>
            <a:pPr>
              <a:lnSpc>
                <a:spcPct val="122000"/>
              </a:lnSpc>
            </a:pPr>
            <a:r>
              <a:rPr sz="1300">
                <a:solidFill>
                  <a:srgbClr val="38BDF8"/>
                </a:solidFill>
                <a:latin typeface="Consolas"/>
              </a:rPr>
              <a:t>    `-- resources/</a:t>
            </a:r>
          </a:p>
          <a:p>
            <a:pPr>
              <a:lnSpc>
                <a:spcPct val="122000"/>
              </a:lnSpc>
            </a:pPr>
            <a:r>
              <a:rPr sz="1300">
                <a:solidFill>
                  <a:srgbClr val="F1F5F9"/>
                </a:solidFill>
                <a:latin typeface="Consolas"/>
              </a:rPr>
              <a:t>        `-- application.properties   &lt;- porta, prefixo /api, etc.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Descomplicando a Arquitetura - Sistema Família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ROTAS DA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Outfit"/>
              </a:rPr>
              <a:t>Do menu antigo para os endpoints REST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874519"/>
            <a:ext cx="64008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Outfit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874519"/>
            <a:ext cx="411480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1874519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Outfit"/>
              </a:rPr>
              <a:t>Opção do menu antigo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874519"/>
            <a:ext cx="137160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0" y="1874519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Outfit"/>
              </a:rPr>
              <a:t>Método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874519"/>
            <a:ext cx="498348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1874519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Outfit"/>
              </a:rPr>
              <a:t>Endpoint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58567"/>
            <a:ext cx="6400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258567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Inter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" y="2258567"/>
            <a:ext cx="411480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2258567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Inter"/>
              </a:rPr>
              <a:t>Cadastrar pessoa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2258567"/>
            <a:ext cx="137160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0" y="2258567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EA5E9"/>
                </a:solidFill>
                <a:latin typeface="Outfit"/>
              </a:rPr>
              <a:t>POST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258567"/>
            <a:ext cx="49834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2258567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/pessoas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42615"/>
            <a:ext cx="640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642615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Inter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2642615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25880" y="2642615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Inter"/>
              </a:rPr>
              <a:t>Listar família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2642615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0" y="2642615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59669"/>
                </a:solidFill>
                <a:latin typeface="Outfit"/>
              </a:rPr>
              <a:t>GET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642615"/>
            <a:ext cx="4983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12280" y="2642615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/pessoas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026663"/>
            <a:ext cx="6400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3026663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Inter"/>
              </a:rPr>
              <a:t>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88720" y="3026663"/>
            <a:ext cx="411480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25880" y="3026663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Inter"/>
              </a:rPr>
              <a:t>Ver patrimônio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3026663"/>
            <a:ext cx="137160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0" y="3026663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59669"/>
                </a:solidFill>
                <a:latin typeface="Outfit"/>
              </a:rPr>
              <a:t>GET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3026663"/>
            <a:ext cx="49834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12280" y="3026663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/pessoas/{id}/patrimônio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410711"/>
            <a:ext cx="640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3410711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Inter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88720" y="3410711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325880" y="3410711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Inter"/>
              </a:rPr>
              <a:t>Cadastrar casa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0" y="3410711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0" y="3410711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EA5E9"/>
                </a:solidFill>
                <a:latin typeface="Outfit"/>
              </a:rPr>
              <a:t>POST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3410711"/>
            <a:ext cx="4983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12280" y="3410711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/casas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794759"/>
            <a:ext cx="6400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8640" y="3794759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Inter"/>
              </a:rPr>
              <a:t>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88720" y="3794759"/>
            <a:ext cx="411480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325880" y="3794759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Inter"/>
              </a:rPr>
              <a:t>Atribuir dono (casa)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0" y="3794759"/>
            <a:ext cx="137160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03520" y="3794759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D97706"/>
                </a:solidFill>
                <a:latin typeface="Outfit"/>
              </a:rPr>
              <a:t>PUT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20" y="3794759"/>
            <a:ext cx="49834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12280" y="3794759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/casas/{id}/dono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178807"/>
            <a:ext cx="640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48640" y="4178807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Inter"/>
              </a:rPr>
              <a:t>11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20" y="4178807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325880" y="4178807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Inter"/>
              </a:rPr>
              <a:t>Transferir casa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03520" y="4178807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303520" y="4178807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EA5E9"/>
                </a:solidFill>
                <a:latin typeface="Outfit"/>
              </a:rPr>
              <a:t>POST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75120" y="4178807"/>
            <a:ext cx="4983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812280" y="4178807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/casas/{id}/transferência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562855"/>
            <a:ext cx="6400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4562855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Inter"/>
              </a:rPr>
              <a:t>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88720" y="4562855"/>
            <a:ext cx="411480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325880" y="4562855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Inter"/>
              </a:rPr>
              <a:t>Cadastrar carro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03520" y="4562855"/>
            <a:ext cx="137160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303520" y="4562855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EA5E9"/>
                </a:solidFill>
                <a:latin typeface="Outfit"/>
              </a:rPr>
              <a:t>POST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675120" y="4562855"/>
            <a:ext cx="49834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812280" y="4562855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/carros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4946903"/>
            <a:ext cx="640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8640" y="4946903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Inter"/>
              </a:rPr>
              <a:t>12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88720" y="4946903"/>
            <a:ext cx="41148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325880" y="4946903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Inter"/>
              </a:rPr>
              <a:t>Transferir carro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03520" y="4946903"/>
            <a:ext cx="1371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303520" y="4946903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EA5E9"/>
                </a:solidFill>
                <a:latin typeface="Outfit"/>
              </a:rPr>
              <a:t>POST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75120" y="4946903"/>
            <a:ext cx="4983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812280" y="4946903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/carros/{id}/transferência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5330951"/>
            <a:ext cx="6400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48640" y="5330951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Inter"/>
              </a:rPr>
              <a:t>14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88720" y="5330951"/>
            <a:ext cx="411480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325880" y="5330951"/>
            <a:ext cx="3977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Inter"/>
              </a:rPr>
              <a:t>Pagar dívida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03520" y="5330951"/>
            <a:ext cx="137160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303520" y="5330951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0EA5E9"/>
                </a:solidFill>
                <a:latin typeface="Outfit"/>
              </a:rPr>
              <a:t>POST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75120" y="5330951"/>
            <a:ext cx="49834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812280" y="5330951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293B"/>
                </a:solidFill>
                <a:latin typeface="Consolas"/>
              </a:rPr>
              <a:t>/pessoas/{id}/pagamento-dívida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Descomplicando a Arquitetura - Sistema Família API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22960" y="210312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011680" cy="4114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0284C7"/>
                </a:solidFill>
                <a:latin typeface="Inter"/>
              </a:rPr>
              <a:t>PARTE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0F172A"/>
                </a:solidFill>
                <a:latin typeface="Outfit"/>
              </a:rPr>
              <a:t>Testando a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4748B"/>
                </a:solidFill>
                <a:latin typeface="Inter"/>
              </a:rPr>
              <a:t>Swagger, cURL e a padronização das respostas de erro.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4617720"/>
            <a:ext cx="2743200" cy="0"/>
          </a:xfrm>
          <a:prstGeom prst="line">
            <a:avLst/>
          </a:prstGeom>
          <a:ln w="3175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TESTANDO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Outfit"/>
              </a:rPr>
              <a:t>Swagger UI - explore a API sem instalar nada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Rota: </a:t>
            </a:r>
            <a:r>
              <a:rPr sz="1300">
                <a:solidFill>
                  <a:srgbClr val="475569"/>
                </a:solidFill>
                <a:latin typeface="Inter"/>
              </a:rPr>
              <a:t>http://localhost:8080/api/swagger-ui.html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Lista todos os endpoints </a:t>
            </a:r>
            <a:r>
              <a:rPr sz="1300">
                <a:solidFill>
                  <a:srgbClr val="475569"/>
                </a:solidFill>
                <a:latin typeface="Inter"/>
              </a:rPr>
              <a:t>agrupados por Controller.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Mostra os schemas </a:t>
            </a:r>
            <a:r>
              <a:rPr sz="1300">
                <a:solidFill>
                  <a:srgbClr val="475569"/>
                </a:solidFill>
                <a:latin typeface="Inter"/>
              </a:rPr>
              <a:t>de cada Request e Response.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Permite executar </a:t>
            </a:r>
            <a:r>
              <a:rPr sz="1300">
                <a:solidFill>
                  <a:srgbClr val="475569"/>
                </a:solidFill>
                <a:latin typeface="Inter"/>
              </a:rPr>
              <a:t>a requisição no navegador (sem Postman).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Exemplos automáticos </a:t>
            </a:r>
            <a:r>
              <a:rPr sz="1300">
                <a:solidFill>
                  <a:srgbClr val="475569"/>
                </a:solidFill>
                <a:latin typeface="Inter"/>
              </a:rPr>
              <a:t>do JSON esperado em cada rota.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0EA5E9"/>
                </a:solidFill>
                <a:latin typeface="Inter"/>
              </a:rPr>
              <a:t>•  </a:t>
            </a:r>
            <a:r>
              <a:rPr sz="1300" b="1">
                <a:solidFill>
                  <a:srgbClr val="334155"/>
                </a:solidFill>
                <a:latin typeface="Inter"/>
              </a:rPr>
              <a:t>Gerado pelo springdoc-openapi </a:t>
            </a:r>
            <a:r>
              <a:rPr sz="1300">
                <a:solidFill>
                  <a:srgbClr val="475569"/>
                </a:solidFill>
                <a:latin typeface="Inter"/>
              </a:rPr>
              <a:t>a partir das anotações do código.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394960" cy="39776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9360" y="1920240"/>
            <a:ext cx="5394960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92240" y="2039112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720840" y="2039112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949440" y="2039112"/>
            <a:ext cx="182880" cy="1828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0" y="192024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Consolas"/>
              </a:rPr>
              <a:t>localhost:8080/api/swagger-ui.html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514600"/>
            <a:ext cx="685800" cy="384048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Outfit"/>
              </a:rP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53288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4155"/>
                </a:solidFill>
                <a:latin typeface="Consolas"/>
              </a:rPr>
              <a:t>/pessoas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017520"/>
            <a:ext cx="685800" cy="384048"/>
          </a:xfrm>
          <a:prstGeom prst="roundRect">
            <a:avLst>
              <a:gd name="adj" fmla="val 15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017520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Outfit"/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03580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4155"/>
                </a:solidFill>
                <a:latin typeface="Consolas"/>
              </a:rPr>
              <a:t>/pessoas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520440"/>
            <a:ext cx="685800" cy="384048"/>
          </a:xfrm>
          <a:prstGeom prst="roundRect">
            <a:avLst>
              <a:gd name="adj" fmla="val 1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520440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Outfit"/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53872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4155"/>
                </a:solidFill>
                <a:latin typeface="Consolas"/>
              </a:rPr>
              <a:t>/pessoas/{id}/patrimônio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4023360"/>
            <a:ext cx="685800" cy="384048"/>
          </a:xfrm>
          <a:prstGeom prst="roundRect">
            <a:avLst>
              <a:gd name="adj" fmla="val 15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023360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Outfit"/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04164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4155"/>
                </a:solidFill>
                <a:latin typeface="Consolas"/>
              </a:rPr>
              <a:t>/casas/{id}/transferência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526280"/>
            <a:ext cx="685800" cy="384048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4526280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Outfit"/>
              </a:rPr>
              <a:t>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54456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4155"/>
                </a:solidFill>
                <a:latin typeface="Consolas"/>
              </a:rPr>
              <a:t>/animais/{id}/dono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Descomplicando a Arquitetura - Sistema Família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TESTANDO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Outfit"/>
              </a:rPr>
              <a:t>Chamada real com cURL: cadastrar pessoa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34155"/>
                </a:solidFill>
                <a:latin typeface="Inter"/>
              </a:rPr>
              <a:t>1) Enviamos um POST para /api/pessoas com um JSON: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0" cy="20116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45059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78408" y="245059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79576" y="2450592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566928" y="2697480"/>
            <a:ext cx="5449824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278892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F1F5F9"/>
                </a:solidFill>
                <a:latin typeface="Consolas"/>
              </a:rPr>
              <a:t>curl -X POST http://localhost:8080/api/pessoas \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1F5F9"/>
                </a:solidFill>
                <a:latin typeface="Consolas"/>
              </a:rPr>
              <a:t>  -H "Content-Type: application/json" \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1F5F9"/>
                </a:solidFill>
                <a:latin typeface="Consolas"/>
              </a:rPr>
              <a:t>  -d '{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1F5F9"/>
                </a:solidFill>
                <a:latin typeface="Consolas"/>
              </a:rPr>
              <a:t>        "nome": "Pai",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1F5F9"/>
                </a:solidFill>
                <a:latin typeface="Consolas"/>
              </a:rPr>
              <a:t>        "idade": 45,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1F5F9"/>
                </a:solidFill>
                <a:latin typeface="Consolas"/>
              </a:rPr>
              <a:t>        "parentesco": "Pai",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1F5F9"/>
                </a:solidFill>
                <a:latin typeface="Consolas"/>
              </a:rPr>
              <a:t>        "carteira": 5000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1F5F9"/>
                </a:solidFill>
                <a:latin typeface="Consolas"/>
              </a:rPr>
              <a:t>      }'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87451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34155"/>
                </a:solidFill>
                <a:latin typeface="Inter"/>
              </a:rPr>
              <a:t>2) A API responde 201 Created com o corpo: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286000"/>
            <a:ext cx="5486400" cy="20116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92240" y="245059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693408" y="245059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94576" y="2450592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697480"/>
            <a:ext cx="5449824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92240" y="278892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F1F5F9"/>
                </a:solidFill>
                <a:latin typeface="Consolas"/>
              </a:rPr>
              <a:t>{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1F5F9"/>
                </a:solidFill>
                <a:latin typeface="Consolas"/>
              </a:rPr>
              <a:t>  "id": 1,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1F5F9"/>
                </a:solidFill>
                <a:latin typeface="Consolas"/>
              </a:rPr>
              <a:t>  "nome": "Pai",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1F5F9"/>
                </a:solidFill>
                <a:latin typeface="Consolas"/>
              </a:rPr>
              <a:t>  "idade": 45,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1F5F9"/>
                </a:solidFill>
                <a:latin typeface="Consolas"/>
              </a:rPr>
              <a:t>  "parentesco": "Pai",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1F5F9"/>
                </a:solidFill>
                <a:latin typeface="Consolas"/>
              </a:rPr>
              <a:t>  "carteira": 5000.0,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1F5F9"/>
                </a:solidFill>
                <a:latin typeface="Consolas"/>
              </a:rPr>
              <a:t>  "dívida": 0.0</a:t>
            </a:r>
          </a:p>
          <a:p>
            <a:pPr algn="l">
              <a:lnSpc>
                <a:spcPct val="125000"/>
              </a:lnSpc>
            </a:pPr>
            <a:r>
              <a:rPr sz="110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26280"/>
            <a:ext cx="11109960" cy="169164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9525">
            <a:solidFill>
              <a:srgbClr val="E0F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284C7"/>
                </a:solidFill>
                <a:latin typeface="Outfit"/>
              </a:rPr>
              <a:t>O que aconteceu por baixo dos panos?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07492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0EA5E9"/>
                </a:solidFill>
                <a:latin typeface="Inter"/>
              </a:rPr>
              <a:t>•  </a:t>
            </a:r>
            <a:r>
              <a:rPr sz="1100" b="1">
                <a:solidFill>
                  <a:srgbClr val="334155"/>
                </a:solidFill>
                <a:latin typeface="Inter"/>
              </a:rPr>
              <a:t>Jackson </a:t>
            </a:r>
            <a:r>
              <a:rPr sz="1100">
                <a:solidFill>
                  <a:srgbClr val="475569"/>
                </a:solidFill>
                <a:latin typeface="Inter"/>
              </a:rPr>
              <a:t>transformou o JSON em PessoaRequest.</a:t>
            </a:r>
          </a:p>
          <a:p>
            <a:pPr algn="l">
              <a:lnSpc>
                <a:spcPct val="135000"/>
              </a:lnSpc>
            </a:pPr>
            <a:r>
              <a:rPr sz="1100" b="1">
                <a:solidFill>
                  <a:srgbClr val="0EA5E9"/>
                </a:solidFill>
                <a:latin typeface="Inter"/>
              </a:rPr>
              <a:t>•  </a:t>
            </a:r>
            <a:r>
              <a:rPr sz="1100" b="1">
                <a:solidFill>
                  <a:srgbClr val="334155"/>
                </a:solidFill>
                <a:latin typeface="Inter"/>
              </a:rPr>
              <a:t>@Valid </a:t>
            </a:r>
            <a:r>
              <a:rPr sz="1100">
                <a:solidFill>
                  <a:srgbClr val="475569"/>
                </a:solidFill>
                <a:latin typeface="Inter"/>
              </a:rPr>
              <a:t>checou @NotBlank, @Min, @PositiveOrZero.</a:t>
            </a:r>
          </a:p>
          <a:p>
            <a:pPr algn="l">
              <a:lnSpc>
                <a:spcPct val="135000"/>
              </a:lnSpc>
            </a:pPr>
            <a:r>
              <a:rPr sz="1100" b="1">
                <a:solidFill>
                  <a:srgbClr val="0EA5E9"/>
                </a:solidFill>
                <a:latin typeface="Inter"/>
              </a:rPr>
              <a:t>•  </a:t>
            </a:r>
            <a:r>
              <a:rPr sz="1100" b="1">
                <a:solidFill>
                  <a:srgbClr val="334155"/>
                </a:solidFill>
                <a:latin typeface="Inter"/>
              </a:rPr>
              <a:t>Controller </a:t>
            </a:r>
            <a:r>
              <a:rPr sz="1100">
                <a:solidFill>
                  <a:srgbClr val="475569"/>
                </a:solidFill>
                <a:latin typeface="Inter"/>
              </a:rPr>
              <a:t>chamou service.cadastrar(...), que salvou no Repository.</a:t>
            </a:r>
          </a:p>
          <a:p>
            <a:pPr algn="l">
              <a:lnSpc>
                <a:spcPct val="135000"/>
              </a:lnSpc>
            </a:pPr>
            <a:r>
              <a:rPr sz="1100" b="1">
                <a:solidFill>
                  <a:srgbClr val="0EA5E9"/>
                </a:solidFill>
                <a:latin typeface="Inter"/>
              </a:rPr>
              <a:t>•  </a:t>
            </a:r>
            <a:r>
              <a:rPr sz="1100" b="1">
                <a:solidFill>
                  <a:srgbClr val="334155"/>
                </a:solidFill>
                <a:latin typeface="Inter"/>
              </a:rPr>
              <a:t>PessoaResponse.from(...) </a:t>
            </a:r>
            <a:r>
              <a:rPr sz="1100">
                <a:solidFill>
                  <a:srgbClr val="475569"/>
                </a:solidFill>
                <a:latin typeface="Inter"/>
              </a:rPr>
              <a:t>converteu o Model em JSON e devolveu 201.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Descomplicando a Arquitetura - Sistema Família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EA5E9"/>
                </a:solidFill>
                <a:latin typeface="Inter"/>
              </a:rPr>
              <a:t>TESTANDO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E293B"/>
                </a:solidFill>
                <a:latin typeface="Outfit"/>
              </a:rPr>
              <a:t>Padronização de erros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75569"/>
                </a:solidFill>
                <a:latin typeface="Inter"/>
              </a:rPr>
              <a:t>Todo erro devolve um JSON no MESMO formato. O aluno não precisa adivinhar o que veio.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31720"/>
            <a:ext cx="118872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10515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Outfit"/>
              </a:rPr>
              <a:t>Código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2331720"/>
            <a:ext cx="548640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74520" y="2331720"/>
            <a:ext cx="5349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Outfit"/>
              </a:rPr>
              <a:t>Quando acontece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331720"/>
            <a:ext cx="4434840" cy="38404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60920" y="2331720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Outfit"/>
              </a:rPr>
              <a:t>Vem 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15768"/>
            <a:ext cx="118872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715768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D97706"/>
                </a:solidFill>
                <a:latin typeface="Outfit"/>
              </a:rPr>
              <a:t>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2715768"/>
            <a:ext cx="548640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74520" y="2715768"/>
            <a:ext cx="5349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Inter"/>
              </a:rPr>
              <a:t>Campo inválido no payload (@NotBlank, @Positive...)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715768"/>
            <a:ext cx="443484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60920" y="2715768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Consolas"/>
              </a:rPr>
              <a:t>MethodArgumentNotValidException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99816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099816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D97706"/>
                </a:solidFill>
                <a:latin typeface="Outfit"/>
              </a:rPr>
              <a:t>404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3099816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74520" y="3099816"/>
            <a:ext cx="5349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Inter"/>
              </a:rPr>
              <a:t>Id de pessoa/animal/casa/carro não existe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3099816"/>
            <a:ext cx="44348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60920" y="3099816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Consolas"/>
              </a:rPr>
              <a:t>NotFoundException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83864"/>
            <a:ext cx="118872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483864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DC2626"/>
                </a:solidFill>
                <a:latin typeface="Outfit"/>
              </a:rPr>
              <a:t>422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3483864"/>
            <a:ext cx="548640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74520" y="3483864"/>
            <a:ext cx="5349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Inter"/>
              </a:rPr>
              <a:t>Regra de negócio (menor de idade, sem saldo, etc.)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483864"/>
            <a:ext cx="443484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60920" y="3483864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Consolas"/>
              </a:rPr>
              <a:t>BusinessException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67912"/>
            <a:ext cx="11887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867912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DC2626"/>
                </a:solidFill>
                <a:latin typeface="Outfit"/>
              </a:rPr>
              <a:t>500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3867912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874520" y="3867912"/>
            <a:ext cx="53492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4155"/>
                </a:solidFill>
                <a:latin typeface="Inter"/>
              </a:rPr>
              <a:t>Falha inesperada (bug, NullPointer...)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3867912"/>
            <a:ext cx="44348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60920" y="3867912"/>
            <a:ext cx="42976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4155"/>
                </a:solidFill>
                <a:latin typeface="Consolas"/>
              </a:rPr>
              <a:t>qualquer outra Exception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3434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34155"/>
                </a:solidFill>
                <a:latin typeface="Inter"/>
              </a:rPr>
              <a:t>Exemplo de erro 422 quando falta saldo na transferência: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709160"/>
            <a:ext cx="11109960" cy="169164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77240" y="4873752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78408" y="487375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79576" y="4873752"/>
            <a:ext cx="91440" cy="914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>
            <a:off x="566928" y="5120640"/>
            <a:ext cx="11073384" cy="0"/>
          </a:xfrm>
          <a:prstGeom prst="line">
            <a:avLst/>
          </a:prstGeom>
          <a:ln w="6350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77240" y="5212080"/>
            <a:ext cx="1065276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>
                <a:solidFill>
                  <a:srgbClr val="F1F5F9"/>
                </a:solidFill>
                <a:latin typeface="Consolas"/>
              </a:rPr>
              <a:t>{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F1F5F9"/>
                </a:solidFill>
                <a:latin typeface="Consolas"/>
              </a:rPr>
              <a:t>  "timestamp": "2026-06-29T20:15:33.123",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F1F5F9"/>
                </a:solidFill>
                <a:latin typeface="Consolas"/>
              </a:rPr>
              <a:t>  "status": 422,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F1F5F9"/>
                </a:solidFill>
                <a:latin typeface="Consolas"/>
              </a:rPr>
              <a:t>  "erro": "Regra de negócio violada",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F1F5F9"/>
                </a:solidFill>
                <a:latin typeface="Consolas"/>
              </a:rPr>
              <a:t>  "mensagem": "Saldo insuficiente: faltam R$ 199000,00. Reenvie com 'aceitaEmprestimo=true'."</a:t>
            </a:r>
          </a:p>
          <a:p>
            <a:pPr algn="l">
              <a:lnSpc>
                <a:spcPct val="125000"/>
              </a:lnSpc>
            </a:pPr>
            <a:r>
              <a:rPr sz="100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Descomplicando a Arquitetura - Sistema Família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4A3B8"/>
                </a:solidFill>
                <a:latin typeface="Inter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40080" y="2194560"/>
            <a:ext cx="100584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400" b="1">
                <a:solidFill>
                  <a:srgbClr val="0F172A"/>
                </a:solidFill>
                <a:latin typeface="Outfit"/>
              </a:rPr>
              <a:t>Perguntas?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64748B"/>
                </a:solidFill>
                <a:latin typeface="Inter"/>
              </a:rPr>
              <a:t>Obrigado pela atenção!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4892040"/>
            <a:ext cx="3474720" cy="0"/>
          </a:xfrm>
          <a:prstGeom prst="line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50292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284C7"/>
                </a:solidFill>
                <a:latin typeface="Inter"/>
              </a:rPr>
              <a:t>Agora é sua vez de abrir o código e explorar cada camada.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Inter"/>
              </a:rPr>
              <a:t>Comece pelo endpoint POST /pessoas e siga o caminho: Controller -&gt; Service -&gt; Repository.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160C5AE-2D84-E6CF-0A4A-B15107483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460" y="20574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3065</Words>
  <Application>Microsoft Office PowerPoint</Application>
  <PresentationFormat>Widescreen</PresentationFormat>
  <Paragraphs>476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Consolas</vt:lpstr>
      <vt:lpstr>Inter</vt:lpstr>
      <vt:lpstr>Outfit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Lucas Evangelista</cp:lastModifiedBy>
  <cp:revision>2</cp:revision>
  <dcterms:created xsi:type="dcterms:W3CDTF">2013-01-27T09:14:16Z</dcterms:created>
  <dcterms:modified xsi:type="dcterms:W3CDTF">2026-07-08T18:09:47Z</dcterms:modified>
  <cp:category/>
</cp:coreProperties>
</file>